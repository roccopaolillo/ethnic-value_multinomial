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7" r:id="rId2"/>
    <p:sldId id="256" r:id="rId3"/>
    <p:sldId id="260" r:id="rId4"/>
    <p:sldId id="263" r:id="rId5"/>
    <p:sldId id="264" r:id="rId6"/>
    <p:sldId id="261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434" autoAdjust="0"/>
  </p:normalViewPr>
  <p:slideViewPr>
    <p:cSldViewPr snapToGrid="0">
      <p:cViewPr varScale="1">
        <p:scale>
          <a:sx n="73" d="100"/>
          <a:sy n="73" d="100"/>
        </p:scale>
        <p:origin x="9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C5E153-176E-4932-B6D9-6CF494BF6BC7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014CBF-B613-47ED-A96A-FFB6578AF4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5338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14CBF-B613-47ED-A96A-FFB6578AF47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2893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orange</a:t>
            </a:r>
            <a:r>
              <a:rPr lang="it-IT" dirty="0"/>
              <a:t> frame: baseline </a:t>
            </a:r>
            <a:r>
              <a:rPr lang="it-IT" dirty="0" err="1"/>
              <a:t>condition</a:t>
            </a:r>
            <a:r>
              <a:rPr lang="it-IT" dirty="0"/>
              <a:t>. </a:t>
            </a:r>
            <a:r>
              <a:rPr lang="it-IT" dirty="0" err="1"/>
              <a:t>Ethnic</a:t>
            </a:r>
            <a:r>
              <a:rPr lang="it-IT" dirty="0"/>
              <a:t> and </a:t>
            </a:r>
            <a:r>
              <a:rPr lang="it-IT" dirty="0" err="1"/>
              <a:t>value</a:t>
            </a:r>
            <a:r>
              <a:rPr lang="it-IT" dirty="0"/>
              <a:t> </a:t>
            </a:r>
            <a:r>
              <a:rPr lang="it-IT" dirty="0" err="1"/>
              <a:t>segregation</a:t>
            </a:r>
            <a:r>
              <a:rPr lang="it-IT" dirty="0"/>
              <a:t>, </a:t>
            </a:r>
            <a:r>
              <a:rPr lang="it-IT" dirty="0" err="1"/>
              <a:t>provided</a:t>
            </a:r>
            <a:r>
              <a:rPr lang="it-IT" dirty="0"/>
              <a:t> the first relative group size </a:t>
            </a:r>
            <a:r>
              <a:rPr lang="it-IT" dirty="0" err="1"/>
              <a:t>condition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taken</a:t>
            </a:r>
            <a:r>
              <a:rPr lang="it-IT" dirty="0"/>
              <a:t>, </a:t>
            </a:r>
            <a:r>
              <a:rPr lang="it-IT" dirty="0" err="1"/>
              <a:t>would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differ</a:t>
            </a:r>
            <a:r>
              <a:rPr lang="it-IT" dirty="0"/>
              <a:t>. In </a:t>
            </a:r>
            <a:r>
              <a:rPr lang="it-IT" dirty="0" err="1"/>
              <a:t>other</a:t>
            </a:r>
            <a:r>
              <a:rPr lang="it-IT" dirty="0"/>
              <a:t> </a:t>
            </a:r>
            <a:r>
              <a:rPr lang="it-IT" dirty="0" err="1"/>
              <a:t>conditions</a:t>
            </a:r>
            <a:r>
              <a:rPr lang="it-IT" dirty="0"/>
              <a:t> </a:t>
            </a:r>
            <a:r>
              <a:rPr lang="it-IT" dirty="0" err="1"/>
              <a:t>would</a:t>
            </a:r>
            <a:r>
              <a:rPr lang="it-IT" dirty="0"/>
              <a:t> </a:t>
            </a:r>
            <a:r>
              <a:rPr lang="it-IT" dirty="0" err="1"/>
              <a:t>differ</a:t>
            </a:r>
            <a:r>
              <a:rPr lang="it-IT" dirty="0"/>
              <a:t> </a:t>
            </a:r>
            <a:r>
              <a:rPr lang="it-IT" dirty="0" err="1"/>
              <a:t>because</a:t>
            </a:r>
            <a:r>
              <a:rPr lang="it-IT" dirty="0"/>
              <a:t> of </a:t>
            </a:r>
            <a:r>
              <a:rPr lang="it-IT" dirty="0" err="1"/>
              <a:t>probability</a:t>
            </a:r>
            <a:r>
              <a:rPr lang="it-IT" dirty="0"/>
              <a:t> to </a:t>
            </a:r>
            <a:r>
              <a:rPr lang="it-IT" dirty="0" err="1"/>
              <a:t>find</a:t>
            </a:r>
            <a:r>
              <a:rPr lang="it-IT" dirty="0"/>
              <a:t> </a:t>
            </a:r>
            <a:r>
              <a:rPr lang="it-IT" dirty="0" err="1"/>
              <a:t>similar</a:t>
            </a:r>
            <a:r>
              <a:rPr lang="it-IT" dirty="0"/>
              <a:t> </a:t>
            </a:r>
            <a:r>
              <a:rPr lang="it-IT" dirty="0" err="1"/>
              <a:t>ones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14CBF-B613-47ED-A96A-FFB6578AF47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799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 err="1"/>
              <a:t>Provided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the </a:t>
            </a:r>
            <a:r>
              <a:rPr lang="it-IT" dirty="0" err="1"/>
              <a:t>increase</a:t>
            </a:r>
            <a:r>
              <a:rPr lang="it-IT" dirty="0"/>
              <a:t> of </a:t>
            </a:r>
            <a:r>
              <a:rPr lang="it-IT" dirty="0" err="1"/>
              <a:t>segregation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monotonic</a:t>
            </a:r>
            <a:r>
              <a:rPr lang="it-IT" dirty="0"/>
              <a:t> linear, </a:t>
            </a:r>
            <a:r>
              <a:rPr lang="it-IT" dirty="0" err="1"/>
              <a:t>when</a:t>
            </a:r>
            <a:r>
              <a:rPr lang="it-IT" dirty="0"/>
              <a:t> </a:t>
            </a:r>
            <a:r>
              <a:rPr lang="it-IT" dirty="0" err="1"/>
              <a:t>value</a:t>
            </a:r>
            <a:r>
              <a:rPr lang="it-IT" dirty="0"/>
              <a:t> </a:t>
            </a:r>
            <a:r>
              <a:rPr lang="it-IT" dirty="0" err="1"/>
              <a:t>segregation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included</a:t>
            </a:r>
            <a:r>
              <a:rPr lang="it-IT" dirty="0"/>
              <a:t>, the </a:t>
            </a:r>
            <a:r>
              <a:rPr lang="it-IT" dirty="0" err="1"/>
              <a:t>faceted</a:t>
            </a:r>
            <a:r>
              <a:rPr lang="it-IT" dirty="0"/>
              <a:t> </a:t>
            </a:r>
            <a:r>
              <a:rPr lang="it-IT" dirty="0" err="1"/>
              <a:t>condition</a:t>
            </a:r>
            <a:r>
              <a:rPr lang="it-IT" dirty="0"/>
              <a:t> for low, medium, high </a:t>
            </a:r>
            <a:r>
              <a:rPr lang="it-IT" dirty="0" err="1"/>
              <a:t>betas</a:t>
            </a:r>
            <a:r>
              <a:rPr lang="it-IT" dirty="0"/>
              <a:t> </a:t>
            </a:r>
            <a:r>
              <a:rPr lang="it-IT" dirty="0" err="1"/>
              <a:t>might</a:t>
            </a:r>
            <a:r>
              <a:rPr lang="it-IT" dirty="0"/>
              <a:t> be </a:t>
            </a:r>
            <a:r>
              <a:rPr lang="it-IT" dirty="0" err="1"/>
              <a:t>explored</a:t>
            </a:r>
            <a:r>
              <a:rPr lang="it-IT" dirty="0"/>
              <a:t>, and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they</a:t>
            </a:r>
            <a:r>
              <a:rPr lang="it-IT" dirty="0"/>
              <a:t> </a:t>
            </a:r>
            <a:r>
              <a:rPr lang="it-IT" dirty="0" err="1"/>
              <a:t>change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</a:t>
            </a:r>
            <a:r>
              <a:rPr lang="it-IT" dirty="0" err="1"/>
              <a:t>effect</a:t>
            </a:r>
            <a:r>
              <a:rPr lang="it-IT" dirty="0"/>
              <a:t> of relative group sizes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14CBF-B613-47ED-A96A-FFB6578AF47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011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dirty="0"/>
                  <a:t>This </a:t>
                </a:r>
                <a:r>
                  <a:rPr lang="it-IT" dirty="0" err="1"/>
                  <a:t>would</a:t>
                </a:r>
                <a:r>
                  <a:rPr lang="it-IT" dirty="0"/>
                  <a:t> assume </a:t>
                </a:r>
                <a:r>
                  <a:rPr lang="it-IT" dirty="0" err="1"/>
                  <a:t>that</a:t>
                </a:r>
                <a:r>
                  <a:rPr lang="it-IT" dirty="0"/>
                  <a:t> </a:t>
                </a:r>
                <a:r>
                  <a:rPr lang="it-IT" dirty="0" err="1"/>
                  <a:t>different</a:t>
                </a:r>
                <a:r>
                  <a:rPr lang="it-IT" dirty="0"/>
                  <a:t> </a:t>
                </a:r>
                <a:r>
                  <a:rPr lang="it-IT" dirty="0" err="1"/>
                  <a:t>value</a:t>
                </a:r>
                <a:r>
                  <a:rPr lang="it-IT" dirty="0"/>
                  <a:t> (i.e. </a:t>
                </a:r>
                <a:r>
                  <a:rPr lang="it-IT" dirty="0" err="1"/>
                  <a:t>tolerance</a:t>
                </a:r>
                <a:r>
                  <a:rPr lang="it-IT" dirty="0"/>
                  <a:t>) </a:t>
                </a:r>
                <a:r>
                  <a:rPr lang="it-IT" dirty="0" err="1"/>
                  <a:t>derives</a:t>
                </a:r>
                <a:r>
                  <a:rPr lang="it-IT" dirty="0"/>
                  <a:t> </a:t>
                </a:r>
                <a:r>
                  <a:rPr lang="it-IT" dirty="0" err="1"/>
                  <a:t>directly</a:t>
                </a:r>
                <a:r>
                  <a:rPr lang="it-IT" dirty="0"/>
                  <a:t> from </a:t>
                </a:r>
                <a:r>
                  <a:rPr lang="it-IT" dirty="0" err="1"/>
                  <a:t>income</a:t>
                </a:r>
                <a:r>
                  <a:rPr lang="it-IT" dirty="0"/>
                  <a:t>. </a:t>
                </a:r>
                <a:r>
                  <a:rPr lang="it-IT" dirty="0" err="1"/>
                  <a:t>You</a:t>
                </a:r>
                <a:r>
                  <a:rPr lang="it-IT" dirty="0"/>
                  <a:t> can </a:t>
                </a:r>
                <a:r>
                  <a:rPr lang="it-IT" dirty="0" err="1"/>
                  <a:t>imagine</a:t>
                </a:r>
                <a:r>
                  <a:rPr lang="it-IT" dirty="0"/>
                  <a:t> </a:t>
                </a:r>
                <a:r>
                  <a:rPr lang="it-IT" dirty="0" err="1"/>
                  <a:t>it</a:t>
                </a:r>
                <a:r>
                  <a:rPr lang="it-IT" dirty="0"/>
                  <a:t> </a:t>
                </a:r>
                <a:r>
                  <a:rPr lang="it-IT" dirty="0" err="1"/>
                  <a:t>comes</a:t>
                </a:r>
                <a:r>
                  <a:rPr lang="it-IT" dirty="0"/>
                  <a:t> </a:t>
                </a:r>
                <a:r>
                  <a:rPr lang="it-IT" dirty="0" err="1"/>
                  <a:t>both</a:t>
                </a:r>
                <a:r>
                  <a:rPr lang="it-IT" dirty="0"/>
                  <a:t> from </a:t>
                </a:r>
                <a:r>
                  <a:rPr lang="it-IT" dirty="0" err="1"/>
                  <a:t>income</a:t>
                </a:r>
                <a:r>
                  <a:rPr lang="it-IT" dirty="0"/>
                  <a:t> and </a:t>
                </a:r>
                <a:r>
                  <a:rPr lang="it-IT" dirty="0" err="1"/>
                  <a:t>ethnic</a:t>
                </a:r>
                <a:r>
                  <a:rPr lang="it-IT" dirty="0"/>
                  <a:t> group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it-IT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it-IT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it-IT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it-IT" dirty="0"/>
                  <a:t>This </a:t>
                </a:r>
                <a:r>
                  <a:rPr lang="it-IT" dirty="0" err="1"/>
                  <a:t>would</a:t>
                </a:r>
                <a:r>
                  <a:rPr lang="it-IT" dirty="0"/>
                  <a:t> assume </a:t>
                </a:r>
                <a:r>
                  <a:rPr lang="it-IT" dirty="0" err="1"/>
                  <a:t>that</a:t>
                </a:r>
                <a:r>
                  <a:rPr lang="it-IT" dirty="0"/>
                  <a:t> </a:t>
                </a:r>
                <a:r>
                  <a:rPr lang="it-IT" dirty="0" err="1"/>
                  <a:t>different</a:t>
                </a:r>
                <a:r>
                  <a:rPr lang="it-IT" dirty="0"/>
                  <a:t> </a:t>
                </a:r>
                <a:r>
                  <a:rPr lang="it-IT" dirty="0" err="1"/>
                  <a:t>value</a:t>
                </a:r>
                <a:r>
                  <a:rPr lang="it-IT" dirty="0"/>
                  <a:t> (i.e. </a:t>
                </a:r>
                <a:r>
                  <a:rPr lang="it-IT" dirty="0" err="1"/>
                  <a:t>tolerance</a:t>
                </a:r>
                <a:r>
                  <a:rPr lang="it-IT" dirty="0"/>
                  <a:t>) </a:t>
                </a:r>
                <a:r>
                  <a:rPr lang="it-IT" dirty="0" err="1"/>
                  <a:t>derives</a:t>
                </a:r>
                <a:r>
                  <a:rPr lang="it-IT" dirty="0"/>
                  <a:t> </a:t>
                </a:r>
                <a:r>
                  <a:rPr lang="it-IT" dirty="0" err="1"/>
                  <a:t>directly</a:t>
                </a:r>
                <a:r>
                  <a:rPr lang="it-IT" dirty="0"/>
                  <a:t> from </a:t>
                </a:r>
                <a:r>
                  <a:rPr lang="it-IT" dirty="0" err="1"/>
                  <a:t>income</a:t>
                </a:r>
                <a:r>
                  <a:rPr lang="it-IT" dirty="0"/>
                  <a:t>. </a:t>
                </a:r>
                <a:r>
                  <a:rPr lang="it-IT" dirty="0" err="1"/>
                  <a:t>You</a:t>
                </a:r>
                <a:r>
                  <a:rPr lang="it-IT" dirty="0"/>
                  <a:t> can </a:t>
                </a:r>
                <a:r>
                  <a:rPr lang="it-IT" dirty="0" err="1"/>
                  <a:t>imagine</a:t>
                </a:r>
                <a:r>
                  <a:rPr lang="it-IT" dirty="0"/>
                  <a:t> </a:t>
                </a:r>
                <a:r>
                  <a:rPr lang="it-IT" dirty="0" err="1"/>
                  <a:t>it</a:t>
                </a:r>
                <a:r>
                  <a:rPr lang="it-IT" dirty="0"/>
                  <a:t> </a:t>
                </a:r>
                <a:r>
                  <a:rPr lang="it-IT" dirty="0" err="1"/>
                  <a:t>comes</a:t>
                </a:r>
                <a:r>
                  <a:rPr lang="it-IT" dirty="0"/>
                  <a:t> </a:t>
                </a:r>
                <a:r>
                  <a:rPr lang="it-IT" dirty="0" err="1"/>
                  <a:t>both</a:t>
                </a:r>
                <a:r>
                  <a:rPr lang="it-IT" dirty="0"/>
                  <a:t> from </a:t>
                </a:r>
                <a:r>
                  <a:rPr lang="it-IT" dirty="0" err="1"/>
                  <a:t>income</a:t>
                </a:r>
                <a:r>
                  <a:rPr lang="it-IT" dirty="0"/>
                  <a:t> and </a:t>
                </a:r>
                <a:r>
                  <a:rPr lang="it-IT" dirty="0" err="1"/>
                  <a:t>ethnic</a:t>
                </a:r>
                <a:r>
                  <a:rPr lang="it-IT" dirty="0"/>
                  <a:t> group = </a:t>
                </a:r>
                <a:r>
                  <a:rPr lang="it-IT" b="0" i="0">
                    <a:latin typeface="Cambria Math" panose="02040503050406030204" pitchFamily="18" charset="0"/>
                  </a:rPr>
                  <a:t>𝑃_𝑣=𝑓(𝐼,𝐸)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014CBF-B613-47ED-A96A-FFB6578AF47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95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0BBED-8E7E-439E-B948-FCA9187AA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5C62E3-DE0B-4EFF-9208-34DDDE75F4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5038A1-CCB3-4F39-80F8-22BE83B82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46C289-2D37-44B8-80B3-B86B26F6E6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6738B-5BD6-4BA2-B2AF-493A355AE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364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343D1-F8B7-4988-97B1-33B6CE822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4A4ED-0CF6-474B-8527-A3BC15C15A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42C59-8C0A-48D7-AE3A-614AE332A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C8B6F0-155C-4438-BF63-169976338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528D03-040D-4900-9AD6-74D1A861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041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A09FB-01C4-4558-9E7D-79762E4B4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86920-566D-46A5-893C-779B4C9D0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7409BC-7DB2-4127-B050-47389686B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581ED-3B2A-4F1E-9323-4B74B0977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8087E3-5DFC-425A-A807-48FD3716D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72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01378-F97E-4B6A-8483-ADA949346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8E0A9-478E-4657-847D-347DAC982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F12A19-7BB0-4577-940D-6E6F3C64FB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4DAFC5-159D-4E04-849A-B5D1570E1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46F90-00F9-4779-85F9-60B302DD6E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2CFA3-3EA9-4383-A2D3-E9A99E698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0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045C3-308D-4A71-B0CA-A0B429D21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906B04-D786-405E-8556-36CD73787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F591C3-0F53-4B0B-BE83-6ADFECB504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82B1BA-423C-41A1-BA95-FAECC9A380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9844D2-CD68-413F-84E0-A267E509D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31547E-356B-4259-892A-1F964BB6A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ED1E6-098E-44CD-B4B6-681BCB0223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B010E2-6B47-4A1C-83E1-D184D0F47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74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D09D7-C8E0-4BAF-975F-5D79F69FE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1BED76-0199-4200-A361-B64007DA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47B443-D04B-4C91-BE6A-5074D133E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09E592-91E2-4013-8AD2-912F66511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769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658D7B-1604-4FEE-A49F-4497AABA6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EE7FF3-5EBA-4E54-83AC-9B81F204D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4F3D4-B23E-4434-822C-858AD0669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1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34D92-6014-4D7C-B927-890DA6AB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FDC29-B07B-4AD2-A590-3DCE45DB67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6CF3C0-2E0D-4659-A3BA-157AA87B6B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F24A64-0A54-45BB-8670-F3D71CB37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541228-46AF-41F3-9716-CC71B2C5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D1B64-911C-4F1E-8A59-EA7A88C9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364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9CFDB-7F8A-4D1F-A1F0-5033D5DE3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CDACD7-1C52-4CC6-B419-E0C456FCAD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3F94A9-0032-4701-AD51-5A331C66CC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3BB27-3E90-4602-8391-887FFC673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D8AA10-B31D-4F39-9319-9EA215E11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14C5C9-F199-43B7-BE19-1D621C17C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689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51853E-E511-4498-B2EB-486232EA5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B0D227-283A-4DA3-99E5-BB4A1CBC4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A8778-9FF3-4FF5-9D2F-856812A88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EC6B6-2893-4D85-9E32-7D8978FA8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8AD7A-E264-473A-9C44-5642C89F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3736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27B69-6B22-4228-B34F-C37888DF13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69BA6-BD4A-4E66-AE4B-1AC2772134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65B8C-2AC5-410B-A559-5E0410110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C7EE82-EF56-4B0D-8192-085A427757D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D944D-B1CE-4739-BD72-2F75FE46D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C7333D-1C4C-4B21-AEAA-92B448A80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51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C4C078-35CF-4D24-8889-1E427FA9E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5F229-0EAC-418F-8D00-EDB34540FF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046DB2-A109-4116-AF48-4BF6EA13C3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C7EE82-EF56-4B0D-8192-085A427757D6}" type="datetimeFigureOut">
              <a:rPr lang="en-US" smtClean="0"/>
              <a:t>2/4/2020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4458C-BF39-4946-AD03-00C808D1B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64ED9-9CF2-44A6-A003-AB99188F0A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AB16D-C8A4-42B6-8244-61E980C210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74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4FDF99DB-4CCA-4B43-81FA-39DB69685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406" y="730506"/>
            <a:ext cx="3688400" cy="290804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AA51FB74-9B56-4BCF-BF99-0340EDED9FBE}"/>
              </a:ext>
            </a:extLst>
          </p:cNvPr>
          <p:cNvSpPr txBox="1"/>
          <p:nvPr/>
        </p:nvSpPr>
        <p:spPr>
          <a:xfrm>
            <a:off x="8686800" y="304800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OFFICIAL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0125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B5876F6-C8A1-4D61-8F29-BA6E732032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728641"/>
              </p:ext>
            </p:extLst>
          </p:nvPr>
        </p:nvGraphicFramePr>
        <p:xfrm>
          <a:off x="3830394" y="2649791"/>
          <a:ext cx="1891072" cy="1404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6672">
                  <a:extLst>
                    <a:ext uri="{9D8B030D-6E8A-4147-A177-3AD203B41FA5}">
                      <a16:colId xmlns:a16="http://schemas.microsoft.com/office/drawing/2014/main" val="364175639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650099921"/>
                    </a:ext>
                  </a:extLst>
                </a:gridCol>
              </a:tblGrid>
              <a:tr h="7020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954237"/>
                  </a:ext>
                </a:extLst>
              </a:tr>
              <a:tr h="7020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0386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EC76652-DAC3-4412-B52E-C7D7F067BDBF}"/>
              </a:ext>
            </a:extLst>
          </p:cNvPr>
          <p:cNvSpPr txBox="1"/>
          <p:nvPr/>
        </p:nvSpPr>
        <p:spPr>
          <a:xfrm>
            <a:off x="3794342" y="2284088"/>
            <a:ext cx="192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ETHNICITY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0631FE-7913-48CA-B769-530083B1DA9B}"/>
              </a:ext>
            </a:extLst>
          </p:cNvPr>
          <p:cNvSpPr txBox="1"/>
          <p:nvPr/>
        </p:nvSpPr>
        <p:spPr>
          <a:xfrm rot="16200000">
            <a:off x="2943676" y="3182548"/>
            <a:ext cx="1404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VALUE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114A35F-319C-46C4-A275-1A2A51AB910B}"/>
              </a:ext>
            </a:extLst>
          </p:cNvPr>
          <p:cNvSpPr/>
          <p:nvPr/>
        </p:nvSpPr>
        <p:spPr>
          <a:xfrm>
            <a:off x="4056417" y="2746204"/>
            <a:ext cx="530942" cy="4522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D9B91F-1BCD-4AD6-81E0-85C6D385F0C1}"/>
              </a:ext>
            </a:extLst>
          </p:cNvPr>
          <p:cNvSpPr/>
          <p:nvPr/>
        </p:nvSpPr>
        <p:spPr>
          <a:xfrm>
            <a:off x="4978624" y="2746204"/>
            <a:ext cx="530942" cy="45228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8A7F0-3663-4457-81B5-C52288390515}"/>
              </a:ext>
            </a:extLst>
          </p:cNvPr>
          <p:cNvSpPr/>
          <p:nvPr/>
        </p:nvSpPr>
        <p:spPr>
          <a:xfrm>
            <a:off x="4100156" y="3439377"/>
            <a:ext cx="461104" cy="452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D8F51F-2C44-4CED-98EB-D0A30515E9FA}"/>
              </a:ext>
            </a:extLst>
          </p:cNvPr>
          <p:cNvSpPr/>
          <p:nvPr/>
        </p:nvSpPr>
        <p:spPr>
          <a:xfrm>
            <a:off x="5013543" y="3439377"/>
            <a:ext cx="461104" cy="45228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Table 4">
            <a:extLst>
              <a:ext uri="{FF2B5EF4-FFF2-40B4-BE49-F238E27FC236}">
                <a16:creationId xmlns:a16="http://schemas.microsoft.com/office/drawing/2014/main" id="{1C593BC8-6C12-4B00-A88B-C108A1C584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7899307"/>
              </p:ext>
            </p:extLst>
          </p:nvPr>
        </p:nvGraphicFramePr>
        <p:xfrm>
          <a:off x="9354783" y="1407921"/>
          <a:ext cx="1891072" cy="1404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6672">
                  <a:extLst>
                    <a:ext uri="{9D8B030D-6E8A-4147-A177-3AD203B41FA5}">
                      <a16:colId xmlns:a16="http://schemas.microsoft.com/office/drawing/2014/main" val="364175639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650099921"/>
                    </a:ext>
                  </a:extLst>
                </a:gridCol>
              </a:tblGrid>
              <a:tr h="7020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954237"/>
                  </a:ext>
                </a:extLst>
              </a:tr>
              <a:tr h="7020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038689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50F08C1-22F1-47B7-BBC1-691BE005D6A2}"/>
              </a:ext>
            </a:extLst>
          </p:cNvPr>
          <p:cNvSpPr txBox="1"/>
          <p:nvPr/>
        </p:nvSpPr>
        <p:spPr>
          <a:xfrm>
            <a:off x="9318731" y="1042218"/>
            <a:ext cx="192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ETHNICITY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650661-958E-46E4-BC50-50038FA68932}"/>
              </a:ext>
            </a:extLst>
          </p:cNvPr>
          <p:cNvSpPr txBox="1"/>
          <p:nvPr/>
        </p:nvSpPr>
        <p:spPr>
          <a:xfrm rot="16200000">
            <a:off x="8468065" y="1925307"/>
            <a:ext cx="1404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VALUE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C2AB3A1F-BA3C-4087-8A58-17459FCA3FF0}"/>
              </a:ext>
            </a:extLst>
          </p:cNvPr>
          <p:cNvSpPr/>
          <p:nvPr/>
        </p:nvSpPr>
        <p:spPr>
          <a:xfrm>
            <a:off x="9580806" y="1504334"/>
            <a:ext cx="530942" cy="4522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03C92D9-3821-408C-90FC-F7B5D4C2D1F0}"/>
              </a:ext>
            </a:extLst>
          </p:cNvPr>
          <p:cNvSpPr/>
          <p:nvPr/>
        </p:nvSpPr>
        <p:spPr>
          <a:xfrm>
            <a:off x="10503013" y="1504334"/>
            <a:ext cx="530942" cy="45228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B3C3C7-E7D7-4C9F-B9B4-E7ABCF47A6F1}"/>
              </a:ext>
            </a:extLst>
          </p:cNvPr>
          <p:cNvSpPr/>
          <p:nvPr/>
        </p:nvSpPr>
        <p:spPr>
          <a:xfrm>
            <a:off x="9624545" y="2197507"/>
            <a:ext cx="461104" cy="452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34EE52-226A-4323-BDF2-8E9A2201B78F}"/>
              </a:ext>
            </a:extLst>
          </p:cNvPr>
          <p:cNvSpPr/>
          <p:nvPr/>
        </p:nvSpPr>
        <p:spPr>
          <a:xfrm>
            <a:off x="10537932" y="2197507"/>
            <a:ext cx="461104" cy="45228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57C71C-591D-412C-B029-EEDF8D464DD3}"/>
              </a:ext>
            </a:extLst>
          </p:cNvPr>
          <p:cNvSpPr txBox="1"/>
          <p:nvPr/>
        </p:nvSpPr>
        <p:spPr>
          <a:xfrm>
            <a:off x="3794341" y="2627024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4822D7B-3087-4AB2-AC8A-91584B855661}"/>
              </a:ext>
            </a:extLst>
          </p:cNvPr>
          <p:cNvSpPr txBox="1"/>
          <p:nvPr/>
        </p:nvSpPr>
        <p:spPr>
          <a:xfrm>
            <a:off x="4571658" y="3093487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F8774A-936E-4425-B2D4-7091E6808486}"/>
              </a:ext>
            </a:extLst>
          </p:cNvPr>
          <p:cNvSpPr txBox="1"/>
          <p:nvPr/>
        </p:nvSpPr>
        <p:spPr>
          <a:xfrm>
            <a:off x="4752601" y="3312326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6F13565-DFAF-42B3-B9C3-83493E0C7B3C}"/>
              </a:ext>
            </a:extLst>
          </p:cNvPr>
          <p:cNvSpPr txBox="1"/>
          <p:nvPr/>
        </p:nvSpPr>
        <p:spPr>
          <a:xfrm>
            <a:off x="3771282" y="3339293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3622CE8-3C52-44F5-8226-B3927E8A07BA}"/>
              </a:ext>
            </a:extLst>
          </p:cNvPr>
          <p:cNvSpPr txBox="1"/>
          <p:nvPr/>
        </p:nvSpPr>
        <p:spPr>
          <a:xfrm>
            <a:off x="4769376" y="2631371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63F8C8-3493-46E0-8B0F-06C29FC902D9}"/>
              </a:ext>
            </a:extLst>
          </p:cNvPr>
          <p:cNvSpPr txBox="1"/>
          <p:nvPr/>
        </p:nvSpPr>
        <p:spPr>
          <a:xfrm>
            <a:off x="5487698" y="3127660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A8423E-21B8-4CC3-B4D3-FB5115C1038C}"/>
              </a:ext>
            </a:extLst>
          </p:cNvPr>
          <p:cNvSpPr txBox="1"/>
          <p:nvPr/>
        </p:nvSpPr>
        <p:spPr>
          <a:xfrm>
            <a:off x="4554538" y="3795496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623E5CB-3B29-48C0-B664-D54018E77FE6}"/>
              </a:ext>
            </a:extLst>
          </p:cNvPr>
          <p:cNvSpPr txBox="1"/>
          <p:nvPr/>
        </p:nvSpPr>
        <p:spPr>
          <a:xfrm>
            <a:off x="5473291" y="3805008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2D6BAC3-2AC8-4867-9056-2AF224BD94EF}"/>
              </a:ext>
            </a:extLst>
          </p:cNvPr>
          <p:cNvGrpSpPr/>
          <p:nvPr/>
        </p:nvGrpSpPr>
        <p:grpSpPr>
          <a:xfrm>
            <a:off x="5793005" y="4069266"/>
            <a:ext cx="1204957" cy="691907"/>
            <a:chOff x="5793005" y="4069266"/>
            <a:chExt cx="1204957" cy="69190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A400506-CE2D-49C5-8304-8EA4276DE313}"/>
                </a:ext>
              </a:extLst>
            </p:cNvPr>
            <p:cNvSpPr txBox="1"/>
            <p:nvPr/>
          </p:nvSpPr>
          <p:spPr>
            <a:xfrm>
              <a:off x="5979250" y="4069266"/>
              <a:ext cx="1000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/>
                <a:t>β</a:t>
              </a:r>
              <a:r>
                <a:rPr lang="it-IT" dirty="0"/>
                <a:t>_</a:t>
              </a:r>
              <a:r>
                <a:rPr lang="it-IT" dirty="0" err="1"/>
                <a:t>ethnic</a:t>
              </a:r>
              <a:endParaRPr lang="en-US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8011D75-0553-4D39-8F2E-E6BC728D12BC}"/>
                </a:ext>
              </a:extLst>
            </p:cNvPr>
            <p:cNvSpPr txBox="1"/>
            <p:nvPr/>
          </p:nvSpPr>
          <p:spPr>
            <a:xfrm>
              <a:off x="5997277" y="4333597"/>
              <a:ext cx="10006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l-GR" dirty="0"/>
                <a:t>β</a:t>
              </a:r>
              <a:r>
                <a:rPr lang="it-IT" dirty="0"/>
                <a:t>_</a:t>
              </a:r>
              <a:r>
                <a:rPr lang="it-IT" dirty="0" err="1"/>
                <a:t>value</a:t>
              </a:r>
              <a:endParaRPr lang="en-US" dirty="0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36437C92-854A-4918-A0CD-A165A0B1B242}"/>
                </a:ext>
              </a:extLst>
            </p:cNvPr>
            <p:cNvSpPr txBox="1"/>
            <p:nvPr/>
          </p:nvSpPr>
          <p:spPr>
            <a:xfrm>
              <a:off x="5802018" y="4391841"/>
              <a:ext cx="226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~</a:t>
              </a:r>
              <a:endParaRPr lang="en-US" dirty="0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B265A22F-16E3-4249-815B-3F55A27B81C0}"/>
                </a:ext>
              </a:extLst>
            </p:cNvPr>
            <p:cNvSpPr txBox="1"/>
            <p:nvPr/>
          </p:nvSpPr>
          <p:spPr>
            <a:xfrm>
              <a:off x="5793005" y="4126496"/>
              <a:ext cx="22602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dirty="0"/>
                <a:t>*</a:t>
              </a:r>
              <a:endParaRPr lang="en-US" dirty="0"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861D218-30CA-4E24-B516-4B76B55156AF}"/>
              </a:ext>
            </a:extLst>
          </p:cNvPr>
          <p:cNvSpPr txBox="1"/>
          <p:nvPr/>
        </p:nvSpPr>
        <p:spPr>
          <a:xfrm>
            <a:off x="5732938" y="2631371"/>
            <a:ext cx="1361442" cy="1422523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noAutofit/>
          </a:bodyPr>
          <a:lstStyle/>
          <a:p>
            <a:pPr algn="ctr"/>
            <a:endParaRPr lang="it-IT" dirty="0"/>
          </a:p>
          <a:p>
            <a:pPr algn="ctr"/>
            <a:r>
              <a:rPr lang="it-IT" dirty="0"/>
              <a:t>Value </a:t>
            </a:r>
          </a:p>
          <a:p>
            <a:pPr algn="ctr"/>
            <a:r>
              <a:rPr lang="it-IT" dirty="0" err="1"/>
              <a:t>Segregation</a:t>
            </a:r>
            <a:endParaRPr 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B5886A-AB63-4B64-B0A2-BA1647D644A9}"/>
              </a:ext>
            </a:extLst>
          </p:cNvPr>
          <p:cNvSpPr txBox="1"/>
          <p:nvPr/>
        </p:nvSpPr>
        <p:spPr>
          <a:xfrm>
            <a:off x="3812368" y="4037777"/>
            <a:ext cx="1927123" cy="1114325"/>
          </a:xfrm>
          <a:prstGeom prst="rect">
            <a:avLst/>
          </a:prstGeom>
          <a:noFill/>
          <a:ln>
            <a:solidFill>
              <a:schemeClr val="tx1"/>
            </a:solidFill>
            <a:prstDash val="lgDash"/>
          </a:ln>
        </p:spPr>
        <p:txBody>
          <a:bodyPr wrap="square" rtlCol="0">
            <a:noAutofit/>
          </a:bodyPr>
          <a:lstStyle/>
          <a:p>
            <a:pPr algn="ctr"/>
            <a:endParaRPr lang="it-IT" dirty="0"/>
          </a:p>
          <a:p>
            <a:pPr algn="ctr"/>
            <a:r>
              <a:rPr lang="it-IT" dirty="0" err="1"/>
              <a:t>Ethnic</a:t>
            </a:r>
            <a:r>
              <a:rPr lang="it-IT" dirty="0"/>
              <a:t> </a:t>
            </a:r>
          </a:p>
          <a:p>
            <a:pPr algn="ctr"/>
            <a:r>
              <a:rPr lang="it-IT" dirty="0" err="1"/>
              <a:t>Segregation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207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75038041-1B08-4F22-98E7-12F0C1CC3836}"/>
              </a:ext>
            </a:extLst>
          </p:cNvPr>
          <p:cNvCxnSpPr/>
          <p:nvPr/>
        </p:nvCxnSpPr>
        <p:spPr>
          <a:xfrm flipV="1">
            <a:off x="1102469" y="128294"/>
            <a:ext cx="0" cy="4036979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DE75CD7-A07E-4BB3-B563-FBE75F39DEEE}"/>
              </a:ext>
            </a:extLst>
          </p:cNvPr>
          <p:cNvCxnSpPr>
            <a:cxnSpLocks/>
          </p:cNvCxnSpPr>
          <p:nvPr/>
        </p:nvCxnSpPr>
        <p:spPr>
          <a:xfrm flipV="1">
            <a:off x="956554" y="3943476"/>
            <a:ext cx="3488987" cy="7789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1909C5A-78AD-44DB-BE36-002047952F11}"/>
              </a:ext>
            </a:extLst>
          </p:cNvPr>
          <p:cNvSpPr txBox="1"/>
          <p:nvPr/>
        </p:nvSpPr>
        <p:spPr>
          <a:xfrm>
            <a:off x="324257" y="459034"/>
            <a:ext cx="632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e□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2B462-0EF1-4EA5-81A6-F47181DE7BC2}"/>
              </a:ext>
            </a:extLst>
          </p:cNvPr>
          <p:cNvSpPr txBox="1"/>
          <p:nvPr/>
        </p:nvSpPr>
        <p:spPr>
          <a:xfrm>
            <a:off x="4247747" y="4060367"/>
            <a:ext cx="60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e○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862CC5-51E3-4390-8902-ED1490B01C39}"/>
              </a:ext>
            </a:extLst>
          </p:cNvPr>
          <p:cNvCxnSpPr>
            <a:cxnSpLocks/>
          </p:cNvCxnSpPr>
          <p:nvPr/>
        </p:nvCxnSpPr>
        <p:spPr>
          <a:xfrm>
            <a:off x="976007" y="3649707"/>
            <a:ext cx="214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52B17D6-B84A-43D7-9647-002414B6738A}"/>
              </a:ext>
            </a:extLst>
          </p:cNvPr>
          <p:cNvCxnSpPr>
            <a:cxnSpLocks/>
          </p:cNvCxnSpPr>
          <p:nvPr/>
        </p:nvCxnSpPr>
        <p:spPr>
          <a:xfrm>
            <a:off x="976007" y="3344907"/>
            <a:ext cx="214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07F78E6-DC4E-428B-95BD-FF3BD15670C0}"/>
              </a:ext>
            </a:extLst>
          </p:cNvPr>
          <p:cNvCxnSpPr>
            <a:cxnSpLocks/>
          </p:cNvCxnSpPr>
          <p:nvPr/>
        </p:nvCxnSpPr>
        <p:spPr>
          <a:xfrm>
            <a:off x="976008" y="3010924"/>
            <a:ext cx="214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1C3BF40-5491-4395-8E70-E50DD5BDDB5E}"/>
              </a:ext>
            </a:extLst>
          </p:cNvPr>
          <p:cNvCxnSpPr>
            <a:cxnSpLocks/>
          </p:cNvCxnSpPr>
          <p:nvPr/>
        </p:nvCxnSpPr>
        <p:spPr>
          <a:xfrm>
            <a:off x="972765" y="2693154"/>
            <a:ext cx="21401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34B5180-799C-42F6-8E5B-AF396654CFD8}"/>
              </a:ext>
            </a:extLst>
          </p:cNvPr>
          <p:cNvCxnSpPr>
            <a:cxnSpLocks/>
          </p:cNvCxnSpPr>
          <p:nvPr/>
        </p:nvCxnSpPr>
        <p:spPr>
          <a:xfrm>
            <a:off x="963040" y="2388355"/>
            <a:ext cx="2237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FEBAF3A-4E34-4197-B53C-5300180C8296}"/>
              </a:ext>
            </a:extLst>
          </p:cNvPr>
          <p:cNvCxnSpPr>
            <a:cxnSpLocks/>
          </p:cNvCxnSpPr>
          <p:nvPr/>
        </p:nvCxnSpPr>
        <p:spPr>
          <a:xfrm>
            <a:off x="956547" y="2083555"/>
            <a:ext cx="2237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44581A6-0C4B-4FF0-AE59-630805D7416D}"/>
              </a:ext>
            </a:extLst>
          </p:cNvPr>
          <p:cNvCxnSpPr>
            <a:cxnSpLocks/>
          </p:cNvCxnSpPr>
          <p:nvPr/>
        </p:nvCxnSpPr>
        <p:spPr>
          <a:xfrm flipV="1">
            <a:off x="963040" y="1772271"/>
            <a:ext cx="223736" cy="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4522968-DBF3-45A0-B330-64ABDB6FC48D}"/>
              </a:ext>
            </a:extLst>
          </p:cNvPr>
          <p:cNvCxnSpPr>
            <a:cxnSpLocks/>
          </p:cNvCxnSpPr>
          <p:nvPr/>
        </p:nvCxnSpPr>
        <p:spPr>
          <a:xfrm>
            <a:off x="990601" y="1490168"/>
            <a:ext cx="2237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E08AB1C-15AA-4734-B4A9-4F05A28D48D2}"/>
              </a:ext>
            </a:extLst>
          </p:cNvPr>
          <p:cNvCxnSpPr>
            <a:cxnSpLocks/>
          </p:cNvCxnSpPr>
          <p:nvPr/>
        </p:nvCxnSpPr>
        <p:spPr>
          <a:xfrm>
            <a:off x="972765" y="1208066"/>
            <a:ext cx="2237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C73FA4D-DFBD-4A0F-BF2A-FA09BA784E7C}"/>
              </a:ext>
            </a:extLst>
          </p:cNvPr>
          <p:cNvCxnSpPr>
            <a:cxnSpLocks/>
          </p:cNvCxnSpPr>
          <p:nvPr/>
        </p:nvCxnSpPr>
        <p:spPr>
          <a:xfrm>
            <a:off x="990601" y="916235"/>
            <a:ext cx="2237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6C0EC99-324C-4B6C-BFB2-A5FC35E9573E}"/>
              </a:ext>
            </a:extLst>
          </p:cNvPr>
          <p:cNvCxnSpPr>
            <a:cxnSpLocks/>
          </p:cNvCxnSpPr>
          <p:nvPr/>
        </p:nvCxnSpPr>
        <p:spPr>
          <a:xfrm>
            <a:off x="1335933" y="3805348"/>
            <a:ext cx="0" cy="2626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6E917C4-8688-4BC1-9525-1ED03F215AE9}"/>
              </a:ext>
            </a:extLst>
          </p:cNvPr>
          <p:cNvCxnSpPr>
            <a:cxnSpLocks/>
          </p:cNvCxnSpPr>
          <p:nvPr/>
        </p:nvCxnSpPr>
        <p:spPr>
          <a:xfrm>
            <a:off x="1614793" y="3805348"/>
            <a:ext cx="0" cy="2626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B7C9FFB3-4ECB-47CA-884A-307C5158ECE5}"/>
              </a:ext>
            </a:extLst>
          </p:cNvPr>
          <p:cNvCxnSpPr>
            <a:cxnSpLocks/>
          </p:cNvCxnSpPr>
          <p:nvPr/>
        </p:nvCxnSpPr>
        <p:spPr>
          <a:xfrm>
            <a:off x="1887167" y="3821561"/>
            <a:ext cx="0" cy="2626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306D4DB-C566-410C-91AA-DC9107120A2C}"/>
              </a:ext>
            </a:extLst>
          </p:cNvPr>
          <p:cNvCxnSpPr>
            <a:cxnSpLocks/>
          </p:cNvCxnSpPr>
          <p:nvPr/>
        </p:nvCxnSpPr>
        <p:spPr>
          <a:xfrm>
            <a:off x="2140086" y="3821561"/>
            <a:ext cx="0" cy="2626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6AE6FD2-E632-4F98-AB02-59BFD1B45A4C}"/>
              </a:ext>
            </a:extLst>
          </p:cNvPr>
          <p:cNvCxnSpPr>
            <a:cxnSpLocks/>
          </p:cNvCxnSpPr>
          <p:nvPr/>
        </p:nvCxnSpPr>
        <p:spPr>
          <a:xfrm>
            <a:off x="2422189" y="3805348"/>
            <a:ext cx="0" cy="2626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234595D1-AD0B-4A8D-A44B-5EC2D99D25FE}"/>
              </a:ext>
            </a:extLst>
          </p:cNvPr>
          <p:cNvCxnSpPr>
            <a:cxnSpLocks/>
          </p:cNvCxnSpPr>
          <p:nvPr/>
        </p:nvCxnSpPr>
        <p:spPr>
          <a:xfrm>
            <a:off x="2743201" y="3821561"/>
            <a:ext cx="0" cy="2626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BBCC43F8-BC64-44C5-BD82-4E68680D74FD}"/>
              </a:ext>
            </a:extLst>
          </p:cNvPr>
          <p:cNvCxnSpPr>
            <a:cxnSpLocks/>
          </p:cNvCxnSpPr>
          <p:nvPr/>
        </p:nvCxnSpPr>
        <p:spPr>
          <a:xfrm>
            <a:off x="3073941" y="3805348"/>
            <a:ext cx="0" cy="2626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2BE06CD-C734-46C2-BD07-A5BD5E0B0693}"/>
              </a:ext>
            </a:extLst>
          </p:cNvPr>
          <p:cNvCxnSpPr>
            <a:cxnSpLocks/>
          </p:cNvCxnSpPr>
          <p:nvPr/>
        </p:nvCxnSpPr>
        <p:spPr>
          <a:xfrm>
            <a:off x="3404682" y="3821561"/>
            <a:ext cx="0" cy="2626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77D64EF-C3F0-43B2-BA37-348E4EB8ABD4}"/>
              </a:ext>
            </a:extLst>
          </p:cNvPr>
          <p:cNvCxnSpPr>
            <a:cxnSpLocks/>
          </p:cNvCxnSpPr>
          <p:nvPr/>
        </p:nvCxnSpPr>
        <p:spPr>
          <a:xfrm>
            <a:off x="3715967" y="3805348"/>
            <a:ext cx="0" cy="2853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F2CD90C2-E794-46EA-9064-72DE37B23542}"/>
              </a:ext>
            </a:extLst>
          </p:cNvPr>
          <p:cNvCxnSpPr>
            <a:cxnSpLocks/>
          </p:cNvCxnSpPr>
          <p:nvPr/>
        </p:nvCxnSpPr>
        <p:spPr>
          <a:xfrm>
            <a:off x="4036980" y="3805348"/>
            <a:ext cx="0" cy="2626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9C6C55E4-01A4-445A-AD2B-711CFCA64DBF}"/>
              </a:ext>
            </a:extLst>
          </p:cNvPr>
          <p:cNvSpPr txBox="1"/>
          <p:nvPr/>
        </p:nvSpPr>
        <p:spPr>
          <a:xfrm>
            <a:off x="695526" y="780156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10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DBDE1D4-34E3-4556-A989-64FA9EEDDAFF}"/>
              </a:ext>
            </a:extLst>
          </p:cNvPr>
          <p:cNvSpPr txBox="1"/>
          <p:nvPr/>
        </p:nvSpPr>
        <p:spPr>
          <a:xfrm>
            <a:off x="718221" y="1078202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9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60FD31C-D965-45A6-AEDA-6F3845688C17}"/>
              </a:ext>
            </a:extLst>
          </p:cNvPr>
          <p:cNvSpPr txBox="1"/>
          <p:nvPr/>
        </p:nvSpPr>
        <p:spPr>
          <a:xfrm>
            <a:off x="699585" y="1360359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8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80A1691-5C1A-4681-BA5C-CFCD4A0DA8D6}"/>
              </a:ext>
            </a:extLst>
          </p:cNvPr>
          <p:cNvSpPr txBox="1"/>
          <p:nvPr/>
        </p:nvSpPr>
        <p:spPr>
          <a:xfrm>
            <a:off x="703639" y="1642675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7</a:t>
            </a:r>
            <a:endParaRPr 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9FFBB90-75CE-48ED-B5AF-B374550DFE5C}"/>
              </a:ext>
            </a:extLst>
          </p:cNvPr>
          <p:cNvSpPr txBox="1"/>
          <p:nvPr/>
        </p:nvSpPr>
        <p:spPr>
          <a:xfrm>
            <a:off x="700398" y="1936129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6</a:t>
            </a:r>
            <a:endParaRPr 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256B236-A7B1-449B-A854-4F60C165937F}"/>
              </a:ext>
            </a:extLst>
          </p:cNvPr>
          <p:cNvSpPr txBox="1"/>
          <p:nvPr/>
        </p:nvSpPr>
        <p:spPr>
          <a:xfrm>
            <a:off x="713358" y="2244816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5</a:t>
            </a:r>
            <a:endParaRPr 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FF66498-3BC2-4DD0-92B6-C2A54EBE70AE}"/>
              </a:ext>
            </a:extLst>
          </p:cNvPr>
          <p:cNvSpPr txBox="1"/>
          <p:nvPr/>
        </p:nvSpPr>
        <p:spPr>
          <a:xfrm>
            <a:off x="721465" y="2556532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4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CAE8A1-5E36-4FCD-9B7C-416EB4DB2BD6}"/>
              </a:ext>
            </a:extLst>
          </p:cNvPr>
          <p:cNvSpPr txBox="1"/>
          <p:nvPr/>
        </p:nvSpPr>
        <p:spPr>
          <a:xfrm>
            <a:off x="713358" y="2848038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3</a:t>
            </a:r>
            <a:endParaRPr lang="en-US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74EC348-9067-4B29-AD03-5D84B28EE890}"/>
              </a:ext>
            </a:extLst>
          </p:cNvPr>
          <p:cNvSpPr txBox="1"/>
          <p:nvPr/>
        </p:nvSpPr>
        <p:spPr>
          <a:xfrm>
            <a:off x="713358" y="3189371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2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25CD84C-0136-4BE8-8441-A585FAC04528}"/>
              </a:ext>
            </a:extLst>
          </p:cNvPr>
          <p:cNvSpPr txBox="1"/>
          <p:nvPr/>
        </p:nvSpPr>
        <p:spPr>
          <a:xfrm>
            <a:off x="682558" y="3524976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1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BBDCEF1-8CD2-4AA0-A84F-6CE0AC520CDE}"/>
              </a:ext>
            </a:extLst>
          </p:cNvPr>
          <p:cNvSpPr txBox="1"/>
          <p:nvPr/>
        </p:nvSpPr>
        <p:spPr>
          <a:xfrm>
            <a:off x="768491" y="3943476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0</a:t>
            </a:r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0162E11-1BE9-4673-A4AE-0AF5BE8E889F}"/>
              </a:ext>
            </a:extLst>
          </p:cNvPr>
          <p:cNvSpPr txBox="1"/>
          <p:nvPr/>
        </p:nvSpPr>
        <p:spPr>
          <a:xfrm>
            <a:off x="1198127" y="4022814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1</a:t>
            </a:r>
            <a:endParaRPr lang="en-US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B004F4E-1D44-4E93-A934-2658D2C80929}"/>
              </a:ext>
            </a:extLst>
          </p:cNvPr>
          <p:cNvSpPr txBox="1"/>
          <p:nvPr/>
        </p:nvSpPr>
        <p:spPr>
          <a:xfrm>
            <a:off x="1460772" y="4024329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2</a:t>
            </a:r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0822DED-6DE0-43FE-A4C1-19CED936DE3F}"/>
              </a:ext>
            </a:extLst>
          </p:cNvPr>
          <p:cNvSpPr txBox="1"/>
          <p:nvPr/>
        </p:nvSpPr>
        <p:spPr>
          <a:xfrm>
            <a:off x="1742063" y="4034161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3</a:t>
            </a:r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8337FCD-657A-49BB-9719-79D195BFCA7E}"/>
              </a:ext>
            </a:extLst>
          </p:cNvPr>
          <p:cNvSpPr txBox="1"/>
          <p:nvPr/>
        </p:nvSpPr>
        <p:spPr>
          <a:xfrm>
            <a:off x="1995793" y="4043993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4</a:t>
            </a:r>
            <a:endParaRPr lang="en-US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3F008A9-BEF9-4C99-9595-F62226FC3976}"/>
              </a:ext>
            </a:extLst>
          </p:cNvPr>
          <p:cNvSpPr txBox="1"/>
          <p:nvPr/>
        </p:nvSpPr>
        <p:spPr>
          <a:xfrm>
            <a:off x="2277893" y="4025622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5</a:t>
            </a:r>
            <a:endParaRPr 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E505ECB-60D0-45C1-B976-B5B9AC9CC5E7}"/>
              </a:ext>
            </a:extLst>
          </p:cNvPr>
          <p:cNvSpPr txBox="1"/>
          <p:nvPr/>
        </p:nvSpPr>
        <p:spPr>
          <a:xfrm>
            <a:off x="2559995" y="4046425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6</a:t>
            </a:r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A7A1650-8F2D-466D-B3E6-23A0E2ADFAE6}"/>
              </a:ext>
            </a:extLst>
          </p:cNvPr>
          <p:cNvSpPr txBox="1"/>
          <p:nvPr/>
        </p:nvSpPr>
        <p:spPr>
          <a:xfrm>
            <a:off x="2900466" y="4074589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7</a:t>
            </a:r>
            <a:endParaRPr lang="en-US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00CFE6D-3035-4EE5-B782-CF49437D5613}"/>
              </a:ext>
            </a:extLst>
          </p:cNvPr>
          <p:cNvSpPr txBox="1"/>
          <p:nvPr/>
        </p:nvSpPr>
        <p:spPr>
          <a:xfrm>
            <a:off x="3250659" y="4045300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8</a:t>
            </a:r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2549B74-DCC6-4704-A009-7DE19696E997}"/>
              </a:ext>
            </a:extLst>
          </p:cNvPr>
          <p:cNvSpPr txBox="1"/>
          <p:nvPr/>
        </p:nvSpPr>
        <p:spPr>
          <a:xfrm>
            <a:off x="3542492" y="4061618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9</a:t>
            </a:r>
            <a:endParaRPr lang="en-US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8C82718-4279-4555-A9D5-C94CFF7D4C3B}"/>
              </a:ext>
            </a:extLst>
          </p:cNvPr>
          <p:cNvSpPr txBox="1"/>
          <p:nvPr/>
        </p:nvSpPr>
        <p:spPr>
          <a:xfrm>
            <a:off x="3873233" y="4055027"/>
            <a:ext cx="3469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000" dirty="0"/>
              <a:t>10</a:t>
            </a:r>
            <a:endParaRPr lang="en-US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21C91C0D-119C-46EE-B2D9-157EE843C42D}"/>
              </a:ext>
            </a:extLst>
          </p:cNvPr>
          <p:cNvCxnSpPr>
            <a:cxnSpLocks/>
          </p:cNvCxnSpPr>
          <p:nvPr/>
        </p:nvCxnSpPr>
        <p:spPr>
          <a:xfrm>
            <a:off x="7472467" y="1069005"/>
            <a:ext cx="0" cy="3800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904A2782-EF9D-49BF-A356-61D87F5AC053}"/>
              </a:ext>
            </a:extLst>
          </p:cNvPr>
          <p:cNvSpPr txBox="1"/>
          <p:nvPr/>
        </p:nvSpPr>
        <p:spPr>
          <a:xfrm>
            <a:off x="7488685" y="1208440"/>
            <a:ext cx="1235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e□ ≥ </a:t>
            </a:r>
            <a:r>
              <a:rPr lang="el-GR" dirty="0"/>
              <a:t>β</a:t>
            </a:r>
            <a:r>
              <a:rPr lang="it-IT" dirty="0"/>
              <a:t>v□ </a:t>
            </a:r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195B5D2-AD51-4D45-A23C-D6AE22A899C1}"/>
              </a:ext>
            </a:extLst>
          </p:cNvPr>
          <p:cNvSpPr txBox="1"/>
          <p:nvPr/>
        </p:nvSpPr>
        <p:spPr>
          <a:xfrm>
            <a:off x="8863529" y="1213459"/>
            <a:ext cx="1235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v○ ≥ </a:t>
            </a:r>
            <a:r>
              <a:rPr lang="el-GR" dirty="0"/>
              <a:t>β</a:t>
            </a:r>
            <a:r>
              <a:rPr lang="it-IT" dirty="0"/>
              <a:t>e○ </a:t>
            </a:r>
            <a:endParaRPr 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FEB69A1-0963-4EE4-BF81-A4514A92E025}"/>
              </a:ext>
            </a:extLst>
          </p:cNvPr>
          <p:cNvSpPr txBox="1"/>
          <p:nvPr/>
        </p:nvSpPr>
        <p:spPr>
          <a:xfrm>
            <a:off x="8665736" y="1208440"/>
            <a:ext cx="39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;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DD1D97-190F-4F7E-81F8-1E0BD4DAB8C1}"/>
              </a:ext>
            </a:extLst>
          </p:cNvPr>
          <p:cNvSpPr txBox="1"/>
          <p:nvPr/>
        </p:nvSpPr>
        <p:spPr>
          <a:xfrm>
            <a:off x="6709950" y="563217"/>
            <a:ext cx="1525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Heterogeneity</a:t>
            </a:r>
            <a:endParaRPr 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8D0162F-B743-4FF3-B004-67CAE2CF938B}"/>
              </a:ext>
            </a:extLst>
          </p:cNvPr>
          <p:cNvSpPr txBox="1"/>
          <p:nvPr/>
        </p:nvSpPr>
        <p:spPr>
          <a:xfrm>
            <a:off x="6229847" y="1182385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Individual</a:t>
            </a:r>
            <a:endParaRPr lang="en-US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B96632C-4BAD-4A64-8223-E6CC5C185782}"/>
              </a:ext>
            </a:extLst>
          </p:cNvPr>
          <p:cNvSpPr txBox="1"/>
          <p:nvPr/>
        </p:nvSpPr>
        <p:spPr>
          <a:xfrm>
            <a:off x="5982681" y="2040267"/>
            <a:ext cx="14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Within</a:t>
            </a:r>
            <a:r>
              <a:rPr lang="it-IT" dirty="0"/>
              <a:t> group</a:t>
            </a:r>
            <a:endParaRPr lang="en-US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D51B9C1-96C9-44B7-B3EF-F2967788699A}"/>
              </a:ext>
            </a:extLst>
          </p:cNvPr>
          <p:cNvSpPr txBox="1"/>
          <p:nvPr/>
        </p:nvSpPr>
        <p:spPr>
          <a:xfrm>
            <a:off x="7528402" y="1853663"/>
            <a:ext cx="1459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 err="1"/>
              <a:t>eL</a:t>
            </a:r>
            <a:r>
              <a:rPr lang="it-IT" dirty="0"/>
              <a:t>□ ≥ </a:t>
            </a:r>
            <a:r>
              <a:rPr lang="el-GR" dirty="0"/>
              <a:t>β</a:t>
            </a:r>
            <a:r>
              <a:rPr lang="it-IT" dirty="0" err="1"/>
              <a:t>eL</a:t>
            </a:r>
            <a:r>
              <a:rPr lang="it-IT" dirty="0"/>
              <a:t>○ 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FE47C4D-4F11-44C1-A005-F15C4B515681}"/>
              </a:ext>
            </a:extLst>
          </p:cNvPr>
          <p:cNvSpPr txBox="1"/>
          <p:nvPr/>
        </p:nvSpPr>
        <p:spPr>
          <a:xfrm>
            <a:off x="7523552" y="2224933"/>
            <a:ext cx="1459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 err="1"/>
              <a:t>vL</a:t>
            </a:r>
            <a:r>
              <a:rPr lang="it-IT" dirty="0"/>
              <a:t>○ ≥ </a:t>
            </a:r>
            <a:r>
              <a:rPr lang="el-GR" dirty="0"/>
              <a:t>β</a:t>
            </a:r>
            <a:r>
              <a:rPr lang="it-IT" dirty="0" err="1"/>
              <a:t>vL</a:t>
            </a:r>
            <a:r>
              <a:rPr lang="it-IT" dirty="0"/>
              <a:t>□</a:t>
            </a:r>
            <a:endParaRPr lang="en-US" dirty="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713BCB8-B4C7-4C7B-AFA7-3E836069F22F}"/>
              </a:ext>
            </a:extLst>
          </p:cNvPr>
          <p:cNvSpPr txBox="1"/>
          <p:nvPr/>
        </p:nvSpPr>
        <p:spPr>
          <a:xfrm>
            <a:off x="8983505" y="1820096"/>
            <a:ext cx="168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 err="1"/>
              <a:t>eM</a:t>
            </a:r>
            <a:r>
              <a:rPr lang="it-IT" dirty="0"/>
              <a:t>□ ≥ </a:t>
            </a:r>
            <a:r>
              <a:rPr lang="el-GR" dirty="0"/>
              <a:t>β</a:t>
            </a:r>
            <a:r>
              <a:rPr lang="it-IT" dirty="0" err="1"/>
              <a:t>eM</a:t>
            </a:r>
            <a:r>
              <a:rPr lang="it-IT" dirty="0"/>
              <a:t>○ </a:t>
            </a:r>
            <a:endParaRPr lang="en-US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33D321A-F504-420B-93AC-010FCEE67B35}"/>
              </a:ext>
            </a:extLst>
          </p:cNvPr>
          <p:cNvSpPr txBox="1"/>
          <p:nvPr/>
        </p:nvSpPr>
        <p:spPr>
          <a:xfrm>
            <a:off x="9007809" y="2189428"/>
            <a:ext cx="1661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 err="1"/>
              <a:t>vM</a:t>
            </a:r>
            <a:r>
              <a:rPr lang="it-IT" dirty="0"/>
              <a:t>○ ≥ </a:t>
            </a:r>
            <a:r>
              <a:rPr lang="el-GR" dirty="0"/>
              <a:t>β</a:t>
            </a:r>
            <a:r>
              <a:rPr lang="it-IT" dirty="0" err="1"/>
              <a:t>vM</a:t>
            </a:r>
            <a:r>
              <a:rPr lang="it-IT" dirty="0"/>
              <a:t>□</a:t>
            </a:r>
            <a:endParaRPr lang="en-US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45D9585-D24B-46B5-9FAB-867C75625960}"/>
              </a:ext>
            </a:extLst>
          </p:cNvPr>
          <p:cNvSpPr txBox="1"/>
          <p:nvPr/>
        </p:nvSpPr>
        <p:spPr>
          <a:xfrm>
            <a:off x="5782371" y="2926780"/>
            <a:ext cx="1727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Between</a:t>
            </a:r>
            <a:r>
              <a:rPr lang="it-IT" dirty="0"/>
              <a:t> group?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370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1909C5A-78AD-44DB-BE36-002047952F11}"/>
              </a:ext>
            </a:extLst>
          </p:cNvPr>
          <p:cNvSpPr txBox="1"/>
          <p:nvPr/>
        </p:nvSpPr>
        <p:spPr>
          <a:xfrm>
            <a:off x="425609" y="175883"/>
            <a:ext cx="632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e□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2B462-0EF1-4EA5-81A6-F47181DE7BC2}"/>
              </a:ext>
            </a:extLst>
          </p:cNvPr>
          <p:cNvSpPr txBox="1"/>
          <p:nvPr/>
        </p:nvSpPr>
        <p:spPr>
          <a:xfrm>
            <a:off x="5767929" y="4905650"/>
            <a:ext cx="60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e○</a:t>
            </a:r>
            <a:endParaRPr lang="en-US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75CB3080-BD71-4123-98CD-8E974573EB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095483"/>
              </p:ext>
            </p:extLst>
          </p:nvPr>
        </p:nvGraphicFramePr>
        <p:xfrm>
          <a:off x="1607790" y="175883"/>
          <a:ext cx="4380981" cy="4170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271">
                  <a:extLst>
                    <a:ext uri="{9D8B030D-6E8A-4147-A177-3AD203B41FA5}">
                      <a16:colId xmlns:a16="http://schemas.microsoft.com/office/drawing/2014/main" val="122550123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3851300696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2330906987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879989458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1664511089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2794672853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1188971132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2539660782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848231332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1299576594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3429993053"/>
                    </a:ext>
                  </a:extLst>
                </a:gridCol>
              </a:tblGrid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000654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160019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406367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5708276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8622774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5237350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1186407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551406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1803507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4766073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1107536"/>
                  </a:ext>
                </a:extLst>
              </a:tr>
            </a:tbl>
          </a:graphicData>
        </a:graphic>
      </p:graphicFrame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51A410A3-303C-41BC-980C-B204E339D199}"/>
              </a:ext>
            </a:extLst>
          </p:cNvPr>
          <p:cNvGraphicFramePr>
            <a:graphicFrameLocks noGrp="1"/>
          </p:cNvGraphicFramePr>
          <p:nvPr/>
        </p:nvGraphicFramePr>
        <p:xfrm>
          <a:off x="1145717" y="175883"/>
          <a:ext cx="452349" cy="4182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349">
                  <a:extLst>
                    <a:ext uri="{9D8B030D-6E8A-4147-A177-3AD203B41FA5}">
                      <a16:colId xmlns:a16="http://schemas.microsoft.com/office/drawing/2014/main" val="3308013798"/>
                    </a:ext>
                  </a:extLst>
                </a:gridCol>
              </a:tblGrid>
              <a:tr h="37544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9634935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6491059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44122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1293499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86582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345726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681596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6313673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8371676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6780809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3608242"/>
                  </a:ext>
                </a:extLst>
              </a:tr>
            </a:tbl>
          </a:graphicData>
        </a:graphic>
      </p:graphicFrame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AE1B7A20-4138-48EC-B0CB-B7D0FF79E873}"/>
              </a:ext>
            </a:extLst>
          </p:cNvPr>
          <p:cNvGraphicFramePr>
            <a:graphicFrameLocks noGrp="1"/>
          </p:cNvGraphicFramePr>
          <p:nvPr/>
        </p:nvGraphicFramePr>
        <p:xfrm>
          <a:off x="1598064" y="4357928"/>
          <a:ext cx="439070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155">
                  <a:extLst>
                    <a:ext uri="{9D8B030D-6E8A-4147-A177-3AD203B41FA5}">
                      <a16:colId xmlns:a16="http://schemas.microsoft.com/office/drawing/2014/main" val="1695629604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75842218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65800155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91699361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4066187747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88148717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1781361406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4262066533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595696453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19725768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2274748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9034456"/>
                  </a:ext>
                </a:extLst>
              </a:tr>
            </a:tbl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0BB088C-0744-47C1-ADAB-805A5CCD83ED}"/>
              </a:ext>
            </a:extLst>
          </p:cNvPr>
          <p:cNvCxnSpPr>
            <a:cxnSpLocks/>
          </p:cNvCxnSpPr>
          <p:nvPr/>
        </p:nvCxnSpPr>
        <p:spPr>
          <a:xfrm flipH="1">
            <a:off x="1259774" y="4252239"/>
            <a:ext cx="430924" cy="39939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07F9DEB-A17F-46FA-8C6E-888D198DE21E}"/>
              </a:ext>
            </a:extLst>
          </p:cNvPr>
          <p:cNvSpPr txBox="1"/>
          <p:nvPr/>
        </p:nvSpPr>
        <p:spPr>
          <a:xfrm>
            <a:off x="146522" y="4344047"/>
            <a:ext cx="1334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Total random relocation due to group size </a:t>
            </a:r>
            <a:r>
              <a:rPr lang="it-IT" sz="1100" dirty="0" err="1"/>
              <a:t>Segregation</a:t>
            </a:r>
            <a:r>
              <a:rPr lang="it-IT" sz="1100" dirty="0"/>
              <a:t> = 0.50</a:t>
            </a:r>
            <a:endParaRPr lang="en-US" sz="11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828320B-0E96-40AA-8036-2C92DE81052F}"/>
              </a:ext>
            </a:extLst>
          </p:cNvPr>
          <p:cNvCxnSpPr/>
          <p:nvPr/>
        </p:nvCxnSpPr>
        <p:spPr>
          <a:xfrm>
            <a:off x="1475236" y="4816549"/>
            <a:ext cx="45755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F80F67C-2A37-4295-9516-CEBF368831BC}"/>
              </a:ext>
            </a:extLst>
          </p:cNvPr>
          <p:cNvCxnSpPr/>
          <p:nvPr/>
        </p:nvCxnSpPr>
        <p:spPr>
          <a:xfrm flipV="1">
            <a:off x="1044533" y="175883"/>
            <a:ext cx="0" cy="4168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D81FA90C-0A41-47B0-90EF-C472DD0601F3}"/>
              </a:ext>
            </a:extLst>
          </p:cNvPr>
          <p:cNvSpPr txBox="1"/>
          <p:nvPr/>
        </p:nvSpPr>
        <p:spPr>
          <a:xfrm>
            <a:off x="6567458" y="117574"/>
            <a:ext cx="632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v○</a:t>
            </a:r>
            <a:endParaRPr lang="en-US" dirty="0"/>
          </a:p>
        </p:txBody>
      </p:sp>
      <p:graphicFrame>
        <p:nvGraphicFramePr>
          <p:cNvPr id="115" name="Table 3">
            <a:extLst>
              <a:ext uri="{FF2B5EF4-FFF2-40B4-BE49-F238E27FC236}">
                <a16:creationId xmlns:a16="http://schemas.microsoft.com/office/drawing/2014/main" id="{328BC7B8-ADBC-4C00-A795-BA9A442A4A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862443"/>
              </p:ext>
            </p:extLst>
          </p:nvPr>
        </p:nvGraphicFramePr>
        <p:xfrm>
          <a:off x="7749639" y="117574"/>
          <a:ext cx="4380981" cy="4170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271">
                  <a:extLst>
                    <a:ext uri="{9D8B030D-6E8A-4147-A177-3AD203B41FA5}">
                      <a16:colId xmlns:a16="http://schemas.microsoft.com/office/drawing/2014/main" val="122550123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3851300696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2330906987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879989458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1664511089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2794672853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1188971132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2539660782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848231332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1299576594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3429993053"/>
                    </a:ext>
                  </a:extLst>
                </a:gridCol>
              </a:tblGrid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000654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160019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406367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5708276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8622774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5237350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1186407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551406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1803507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4766073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1107536"/>
                  </a:ext>
                </a:extLst>
              </a:tr>
            </a:tbl>
          </a:graphicData>
        </a:graphic>
      </p:graphicFrame>
      <p:graphicFrame>
        <p:nvGraphicFramePr>
          <p:cNvPr id="116" name="Table 9">
            <a:extLst>
              <a:ext uri="{FF2B5EF4-FFF2-40B4-BE49-F238E27FC236}">
                <a16:creationId xmlns:a16="http://schemas.microsoft.com/office/drawing/2014/main" id="{42CE752F-750A-4373-B58D-8B50EC33CB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890140"/>
              </p:ext>
            </p:extLst>
          </p:nvPr>
        </p:nvGraphicFramePr>
        <p:xfrm>
          <a:off x="7287566" y="117574"/>
          <a:ext cx="452349" cy="4182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349">
                  <a:extLst>
                    <a:ext uri="{9D8B030D-6E8A-4147-A177-3AD203B41FA5}">
                      <a16:colId xmlns:a16="http://schemas.microsoft.com/office/drawing/2014/main" val="3308013798"/>
                    </a:ext>
                  </a:extLst>
                </a:gridCol>
              </a:tblGrid>
              <a:tr h="37544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634935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6491059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44122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1293499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86582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345726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681596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6313673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8371676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6780809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3608242"/>
                  </a:ext>
                </a:extLst>
              </a:tr>
            </a:tbl>
          </a:graphicData>
        </a:graphic>
      </p:graphicFrame>
      <p:graphicFrame>
        <p:nvGraphicFramePr>
          <p:cNvPr id="117" name="Table 12">
            <a:extLst>
              <a:ext uri="{FF2B5EF4-FFF2-40B4-BE49-F238E27FC236}">
                <a16:creationId xmlns:a16="http://schemas.microsoft.com/office/drawing/2014/main" id="{BC72E8E3-2261-44D9-9839-01FB263D54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424112"/>
              </p:ext>
            </p:extLst>
          </p:nvPr>
        </p:nvGraphicFramePr>
        <p:xfrm>
          <a:off x="7739913" y="4299619"/>
          <a:ext cx="439070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155">
                  <a:extLst>
                    <a:ext uri="{9D8B030D-6E8A-4147-A177-3AD203B41FA5}">
                      <a16:colId xmlns:a16="http://schemas.microsoft.com/office/drawing/2014/main" val="1695629604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75842218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65800155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91699361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4066187747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88148717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1781361406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4262066533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595696453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19725768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2274748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9034456"/>
                  </a:ext>
                </a:extLst>
              </a:tr>
            </a:tbl>
          </a:graphicData>
        </a:graphic>
      </p:graphicFrame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E74D04B7-64C7-49C0-A524-F02C7394A2EC}"/>
              </a:ext>
            </a:extLst>
          </p:cNvPr>
          <p:cNvCxnSpPr/>
          <p:nvPr/>
        </p:nvCxnSpPr>
        <p:spPr>
          <a:xfrm>
            <a:off x="7695983" y="4792231"/>
            <a:ext cx="45755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AB0542C3-3423-4DD3-A6F7-D4C495BEE685}"/>
              </a:ext>
            </a:extLst>
          </p:cNvPr>
          <p:cNvCxnSpPr/>
          <p:nvPr/>
        </p:nvCxnSpPr>
        <p:spPr>
          <a:xfrm flipV="1">
            <a:off x="7186382" y="117574"/>
            <a:ext cx="0" cy="4168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9C095CB4-A727-4487-B69B-9DFBA1FAC428}"/>
              </a:ext>
            </a:extLst>
          </p:cNvPr>
          <p:cNvSpPr txBox="1"/>
          <p:nvPr/>
        </p:nvSpPr>
        <p:spPr>
          <a:xfrm>
            <a:off x="9110660" y="5538095"/>
            <a:ext cx="1655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bl:org</a:t>
            </a:r>
            <a:r>
              <a:rPr lang="it-IT" dirty="0"/>
              <a:t>=0.8</a:t>
            </a:r>
          </a:p>
          <a:p>
            <a:r>
              <a:rPr lang="it-IT" dirty="0" err="1"/>
              <a:t>bl</a:t>
            </a:r>
            <a:r>
              <a:rPr lang="it-IT" dirty="0"/>
              <a:t>&gt;</a:t>
            </a:r>
            <a:r>
              <a:rPr lang="it-IT" dirty="0" err="1"/>
              <a:t>crl:sqr</a:t>
            </a:r>
            <a:r>
              <a:rPr lang="it-IT" dirty="0"/>
              <a:t>=0.8</a:t>
            </a:r>
          </a:p>
          <a:p>
            <a:r>
              <a:rPr lang="it-IT" dirty="0" err="1"/>
              <a:t>org</a:t>
            </a:r>
            <a:r>
              <a:rPr lang="it-IT" dirty="0"/>
              <a:t>&gt;</a:t>
            </a:r>
            <a:r>
              <a:rPr lang="it-IT" dirty="0" err="1"/>
              <a:t>crl:sqr</a:t>
            </a:r>
            <a:r>
              <a:rPr lang="it-IT" dirty="0"/>
              <a:t>=0.2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C8423A0-E751-4AC7-879C-53DDB0B0EEA5}"/>
              </a:ext>
            </a:extLst>
          </p:cNvPr>
          <p:cNvSpPr txBox="1"/>
          <p:nvPr/>
        </p:nvSpPr>
        <p:spPr>
          <a:xfrm>
            <a:off x="6055367" y="5646553"/>
            <a:ext cx="1754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bl:org</a:t>
            </a:r>
            <a:r>
              <a:rPr lang="it-IT" dirty="0"/>
              <a:t>=0.5</a:t>
            </a:r>
          </a:p>
          <a:p>
            <a:r>
              <a:rPr lang="it-IT" dirty="0" err="1"/>
              <a:t>bl</a:t>
            </a:r>
            <a:r>
              <a:rPr lang="it-IT" dirty="0"/>
              <a:t>&gt;</a:t>
            </a:r>
            <a:r>
              <a:rPr lang="it-IT" dirty="0" err="1"/>
              <a:t>crl:sqr</a:t>
            </a:r>
            <a:r>
              <a:rPr lang="it-IT" dirty="0"/>
              <a:t>=0.8</a:t>
            </a:r>
          </a:p>
          <a:p>
            <a:r>
              <a:rPr lang="it-IT" dirty="0" err="1"/>
              <a:t>org</a:t>
            </a:r>
            <a:r>
              <a:rPr lang="it-IT" dirty="0"/>
              <a:t>&gt;</a:t>
            </a:r>
            <a:r>
              <a:rPr lang="it-IT" dirty="0" err="1"/>
              <a:t>crl:sqr</a:t>
            </a:r>
            <a:r>
              <a:rPr lang="it-IT" dirty="0"/>
              <a:t>=0.2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5ACE685-35FC-4E91-9E04-1B8C00BDDBBB}"/>
              </a:ext>
            </a:extLst>
          </p:cNvPr>
          <p:cNvSpPr txBox="1"/>
          <p:nvPr/>
        </p:nvSpPr>
        <p:spPr>
          <a:xfrm>
            <a:off x="2972282" y="5663217"/>
            <a:ext cx="1754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bl:org</a:t>
            </a:r>
            <a:r>
              <a:rPr lang="it-IT" dirty="0"/>
              <a:t>=0.8</a:t>
            </a:r>
          </a:p>
          <a:p>
            <a:r>
              <a:rPr lang="it-IT" dirty="0" err="1"/>
              <a:t>bl</a:t>
            </a:r>
            <a:r>
              <a:rPr lang="it-IT" dirty="0"/>
              <a:t>&gt;</a:t>
            </a:r>
            <a:r>
              <a:rPr lang="it-IT" dirty="0" err="1"/>
              <a:t>crl:sqr</a:t>
            </a:r>
            <a:r>
              <a:rPr lang="it-IT" dirty="0"/>
              <a:t>=0.5</a:t>
            </a:r>
          </a:p>
          <a:p>
            <a:r>
              <a:rPr lang="it-IT" dirty="0" err="1"/>
              <a:t>org</a:t>
            </a:r>
            <a:r>
              <a:rPr lang="it-IT" dirty="0"/>
              <a:t>&gt;</a:t>
            </a:r>
            <a:r>
              <a:rPr lang="it-IT" dirty="0" err="1"/>
              <a:t>crl:sqr</a:t>
            </a:r>
            <a:r>
              <a:rPr lang="it-IT" dirty="0"/>
              <a:t>=0.5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8138749-DAE4-4262-A7B7-D277217E0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044" y="5257599"/>
            <a:ext cx="1599962" cy="157841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E0D6189-6A77-49B9-B308-A2121A52D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0876" y="5200554"/>
            <a:ext cx="1581838" cy="1635459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B917574A-366B-44A3-BD33-1A77F87CF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1598" y="5274373"/>
            <a:ext cx="1566340" cy="1646255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3BCA8A2F-B4A6-46E7-AFCF-5DF4DF3FA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500" y="5274982"/>
            <a:ext cx="1617941" cy="1645646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3EF62DB8-071B-4B3A-B479-F537A65AE9B1}"/>
              </a:ext>
            </a:extLst>
          </p:cNvPr>
          <p:cNvSpPr txBox="1"/>
          <p:nvPr/>
        </p:nvSpPr>
        <p:spPr>
          <a:xfrm>
            <a:off x="0" y="5649265"/>
            <a:ext cx="1754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bl:org</a:t>
            </a:r>
            <a:r>
              <a:rPr lang="it-IT" dirty="0"/>
              <a:t>=0.5</a:t>
            </a:r>
          </a:p>
          <a:p>
            <a:r>
              <a:rPr lang="it-IT" dirty="0" err="1"/>
              <a:t>bl</a:t>
            </a:r>
            <a:r>
              <a:rPr lang="it-IT" dirty="0"/>
              <a:t>&gt;</a:t>
            </a:r>
            <a:r>
              <a:rPr lang="it-IT" dirty="0" err="1"/>
              <a:t>crl:sqr</a:t>
            </a:r>
            <a:r>
              <a:rPr lang="it-IT" dirty="0"/>
              <a:t>=0.5</a:t>
            </a:r>
          </a:p>
          <a:p>
            <a:r>
              <a:rPr lang="it-IT" dirty="0" err="1"/>
              <a:t>org</a:t>
            </a:r>
            <a:r>
              <a:rPr lang="it-IT" dirty="0"/>
              <a:t>&gt;</a:t>
            </a:r>
            <a:r>
              <a:rPr lang="it-IT" dirty="0" err="1"/>
              <a:t>crl:sqr</a:t>
            </a:r>
            <a:r>
              <a:rPr lang="it-IT" dirty="0"/>
              <a:t>=0.5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0232B58-943D-410D-A9C4-BBC928EBCB98}"/>
              </a:ext>
            </a:extLst>
          </p:cNvPr>
          <p:cNvSpPr txBox="1"/>
          <p:nvPr/>
        </p:nvSpPr>
        <p:spPr>
          <a:xfrm>
            <a:off x="-44020" y="1566041"/>
            <a:ext cx="1069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/>
              <a:t>Ethnic</a:t>
            </a:r>
            <a:r>
              <a:rPr lang="it-IT" sz="1400" dirty="0"/>
              <a:t> </a:t>
            </a:r>
            <a:r>
              <a:rPr lang="it-IT" sz="1400" dirty="0" err="1"/>
              <a:t>segregation</a:t>
            </a:r>
            <a:endParaRPr lang="en-US" sz="14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6247D62-0D7C-4918-9FD4-E3DD62A09709}"/>
              </a:ext>
            </a:extLst>
          </p:cNvPr>
          <p:cNvSpPr txBox="1"/>
          <p:nvPr/>
        </p:nvSpPr>
        <p:spPr>
          <a:xfrm>
            <a:off x="6264535" y="1601492"/>
            <a:ext cx="1069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Value </a:t>
            </a:r>
            <a:r>
              <a:rPr lang="it-IT" sz="1400" dirty="0" err="1"/>
              <a:t>segregation</a:t>
            </a:r>
            <a:endParaRPr lang="en-US" sz="14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84C9680-40ED-400A-88FC-F7EF0AEAA8CB}"/>
              </a:ext>
            </a:extLst>
          </p:cNvPr>
          <p:cNvSpPr txBox="1"/>
          <p:nvPr/>
        </p:nvSpPr>
        <p:spPr>
          <a:xfrm>
            <a:off x="11514876" y="4775750"/>
            <a:ext cx="632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v□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E77F91-139D-4E9F-A9B3-C0DA5529E11F}"/>
              </a:ext>
            </a:extLst>
          </p:cNvPr>
          <p:cNvSpPr/>
          <p:nvPr/>
        </p:nvSpPr>
        <p:spPr>
          <a:xfrm>
            <a:off x="0" y="5274373"/>
            <a:ext cx="3007994" cy="158362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A7433CF-DA7F-4080-BDCD-844F063868AD}"/>
              </a:ext>
            </a:extLst>
          </p:cNvPr>
          <p:cNvSpPr/>
          <p:nvPr/>
        </p:nvSpPr>
        <p:spPr>
          <a:xfrm>
            <a:off x="-1" y="0"/>
            <a:ext cx="6215753" cy="520053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6FF1B-DDF8-4CE4-B6A7-2C6BBBBE28FB}"/>
              </a:ext>
            </a:extLst>
          </p:cNvPr>
          <p:cNvSpPr txBox="1"/>
          <p:nvPr/>
        </p:nvSpPr>
        <p:spPr>
          <a:xfrm>
            <a:off x="6314230" y="4362737"/>
            <a:ext cx="1381750" cy="33855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it-IT" sz="1600" dirty="0"/>
              <a:t>Baseline:</a:t>
            </a:r>
            <a:r>
              <a:rPr lang="el-GR" sz="1600" dirty="0"/>
              <a:t>β</a:t>
            </a:r>
            <a:r>
              <a:rPr lang="it-IT" sz="1600" dirty="0"/>
              <a:t>v=0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24505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1909C5A-78AD-44DB-BE36-002047952F11}"/>
              </a:ext>
            </a:extLst>
          </p:cNvPr>
          <p:cNvSpPr txBox="1"/>
          <p:nvPr/>
        </p:nvSpPr>
        <p:spPr>
          <a:xfrm>
            <a:off x="425609" y="175883"/>
            <a:ext cx="632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e□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A2B462-0EF1-4EA5-81A6-F47181DE7BC2}"/>
              </a:ext>
            </a:extLst>
          </p:cNvPr>
          <p:cNvSpPr txBox="1"/>
          <p:nvPr/>
        </p:nvSpPr>
        <p:spPr>
          <a:xfrm>
            <a:off x="5767929" y="4905650"/>
            <a:ext cx="60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e○</a:t>
            </a:r>
            <a:endParaRPr lang="en-US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75CB3080-BD71-4123-98CD-8E974573EBFB}"/>
              </a:ext>
            </a:extLst>
          </p:cNvPr>
          <p:cNvGraphicFramePr>
            <a:graphicFrameLocks noGrp="1"/>
          </p:cNvGraphicFramePr>
          <p:nvPr/>
        </p:nvGraphicFramePr>
        <p:xfrm>
          <a:off x="1607790" y="175883"/>
          <a:ext cx="4380981" cy="4170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271">
                  <a:extLst>
                    <a:ext uri="{9D8B030D-6E8A-4147-A177-3AD203B41FA5}">
                      <a16:colId xmlns:a16="http://schemas.microsoft.com/office/drawing/2014/main" val="122550123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3851300696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2330906987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879989458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1664511089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2794672853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1188971132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2539660782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848231332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1299576594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3429993053"/>
                    </a:ext>
                  </a:extLst>
                </a:gridCol>
              </a:tblGrid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000654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160019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406367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5708276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8622774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5237350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1186407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551406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1803507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4766073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1107536"/>
                  </a:ext>
                </a:extLst>
              </a:tr>
            </a:tbl>
          </a:graphicData>
        </a:graphic>
      </p:graphicFrame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51A410A3-303C-41BC-980C-B204E339D199}"/>
              </a:ext>
            </a:extLst>
          </p:cNvPr>
          <p:cNvGraphicFramePr>
            <a:graphicFrameLocks noGrp="1"/>
          </p:cNvGraphicFramePr>
          <p:nvPr/>
        </p:nvGraphicFramePr>
        <p:xfrm>
          <a:off x="1145717" y="175883"/>
          <a:ext cx="452349" cy="4182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349">
                  <a:extLst>
                    <a:ext uri="{9D8B030D-6E8A-4147-A177-3AD203B41FA5}">
                      <a16:colId xmlns:a16="http://schemas.microsoft.com/office/drawing/2014/main" val="3308013798"/>
                    </a:ext>
                  </a:extLst>
                </a:gridCol>
              </a:tblGrid>
              <a:tr h="37544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49634935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6491059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44122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1293499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86582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345726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681596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6313673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8371676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6780809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3608242"/>
                  </a:ext>
                </a:extLst>
              </a:tr>
            </a:tbl>
          </a:graphicData>
        </a:graphic>
      </p:graphicFrame>
      <p:graphicFrame>
        <p:nvGraphicFramePr>
          <p:cNvPr id="12" name="Table 12">
            <a:extLst>
              <a:ext uri="{FF2B5EF4-FFF2-40B4-BE49-F238E27FC236}">
                <a16:creationId xmlns:a16="http://schemas.microsoft.com/office/drawing/2014/main" id="{AE1B7A20-4138-48EC-B0CB-B7D0FF79E873}"/>
              </a:ext>
            </a:extLst>
          </p:cNvPr>
          <p:cNvGraphicFramePr>
            <a:graphicFrameLocks noGrp="1"/>
          </p:cNvGraphicFramePr>
          <p:nvPr/>
        </p:nvGraphicFramePr>
        <p:xfrm>
          <a:off x="1598064" y="4357928"/>
          <a:ext cx="439070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155">
                  <a:extLst>
                    <a:ext uri="{9D8B030D-6E8A-4147-A177-3AD203B41FA5}">
                      <a16:colId xmlns:a16="http://schemas.microsoft.com/office/drawing/2014/main" val="1695629604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75842218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65800155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91699361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4066187747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88148717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1781361406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4262066533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595696453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19725768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2274748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9034456"/>
                  </a:ext>
                </a:extLst>
              </a:tr>
            </a:tbl>
          </a:graphicData>
        </a:graphic>
      </p:graphicFrame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0BB088C-0744-47C1-ADAB-805A5CCD83ED}"/>
              </a:ext>
            </a:extLst>
          </p:cNvPr>
          <p:cNvCxnSpPr>
            <a:cxnSpLocks/>
          </p:cNvCxnSpPr>
          <p:nvPr/>
        </p:nvCxnSpPr>
        <p:spPr>
          <a:xfrm flipH="1">
            <a:off x="1259774" y="4252239"/>
            <a:ext cx="430924" cy="399393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07F9DEB-A17F-46FA-8C6E-888D198DE21E}"/>
              </a:ext>
            </a:extLst>
          </p:cNvPr>
          <p:cNvSpPr txBox="1"/>
          <p:nvPr/>
        </p:nvSpPr>
        <p:spPr>
          <a:xfrm>
            <a:off x="146522" y="4344047"/>
            <a:ext cx="133481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Total random relocation due to group size </a:t>
            </a:r>
            <a:r>
              <a:rPr lang="it-IT" sz="1100" dirty="0" err="1"/>
              <a:t>Segregation</a:t>
            </a:r>
            <a:r>
              <a:rPr lang="it-IT" sz="1100" dirty="0"/>
              <a:t> = 0.50</a:t>
            </a:r>
            <a:endParaRPr lang="en-US" sz="11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828320B-0E96-40AA-8036-2C92DE81052F}"/>
              </a:ext>
            </a:extLst>
          </p:cNvPr>
          <p:cNvCxnSpPr/>
          <p:nvPr/>
        </p:nvCxnSpPr>
        <p:spPr>
          <a:xfrm>
            <a:off x="1475236" y="4816549"/>
            <a:ext cx="45755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F80F67C-2A37-4295-9516-CEBF368831BC}"/>
              </a:ext>
            </a:extLst>
          </p:cNvPr>
          <p:cNvCxnSpPr/>
          <p:nvPr/>
        </p:nvCxnSpPr>
        <p:spPr>
          <a:xfrm flipV="1">
            <a:off x="1044533" y="175883"/>
            <a:ext cx="0" cy="4168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D81FA90C-0A41-47B0-90EF-C472DD0601F3}"/>
              </a:ext>
            </a:extLst>
          </p:cNvPr>
          <p:cNvSpPr txBox="1"/>
          <p:nvPr/>
        </p:nvSpPr>
        <p:spPr>
          <a:xfrm>
            <a:off x="6430861" y="107454"/>
            <a:ext cx="632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v○</a:t>
            </a:r>
            <a:endParaRPr lang="en-US" dirty="0"/>
          </a:p>
        </p:txBody>
      </p:sp>
      <p:graphicFrame>
        <p:nvGraphicFramePr>
          <p:cNvPr id="115" name="Table 3">
            <a:extLst>
              <a:ext uri="{FF2B5EF4-FFF2-40B4-BE49-F238E27FC236}">
                <a16:creationId xmlns:a16="http://schemas.microsoft.com/office/drawing/2014/main" id="{328BC7B8-ADBC-4C00-A795-BA9A442A4ACB}"/>
              </a:ext>
            </a:extLst>
          </p:cNvPr>
          <p:cNvGraphicFramePr>
            <a:graphicFrameLocks noGrp="1"/>
          </p:cNvGraphicFramePr>
          <p:nvPr/>
        </p:nvGraphicFramePr>
        <p:xfrm>
          <a:off x="7613042" y="107454"/>
          <a:ext cx="4380981" cy="41707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8271">
                  <a:extLst>
                    <a:ext uri="{9D8B030D-6E8A-4147-A177-3AD203B41FA5}">
                      <a16:colId xmlns:a16="http://schemas.microsoft.com/office/drawing/2014/main" val="122550123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3851300696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2330906987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879989458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1664511089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2794672853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1188971132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2539660782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848231332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1299576594"/>
                    </a:ext>
                  </a:extLst>
                </a:gridCol>
                <a:gridCol w="398271">
                  <a:extLst>
                    <a:ext uri="{9D8B030D-6E8A-4147-A177-3AD203B41FA5}">
                      <a16:colId xmlns:a16="http://schemas.microsoft.com/office/drawing/2014/main" val="3429993053"/>
                    </a:ext>
                  </a:extLst>
                </a:gridCol>
              </a:tblGrid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000654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3160019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406367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5708276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38622774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85237350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91186407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6551406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1803507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24766073"/>
                  </a:ext>
                </a:extLst>
              </a:tr>
              <a:tr h="37915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X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71107536"/>
                  </a:ext>
                </a:extLst>
              </a:tr>
            </a:tbl>
          </a:graphicData>
        </a:graphic>
      </p:graphicFrame>
      <p:graphicFrame>
        <p:nvGraphicFramePr>
          <p:cNvPr id="116" name="Table 9">
            <a:extLst>
              <a:ext uri="{FF2B5EF4-FFF2-40B4-BE49-F238E27FC236}">
                <a16:creationId xmlns:a16="http://schemas.microsoft.com/office/drawing/2014/main" id="{42CE752F-750A-4373-B58D-8B50EC33CBBC}"/>
              </a:ext>
            </a:extLst>
          </p:cNvPr>
          <p:cNvGraphicFramePr>
            <a:graphicFrameLocks noGrp="1"/>
          </p:cNvGraphicFramePr>
          <p:nvPr/>
        </p:nvGraphicFramePr>
        <p:xfrm>
          <a:off x="7150969" y="107454"/>
          <a:ext cx="452349" cy="41820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2349">
                  <a:extLst>
                    <a:ext uri="{9D8B030D-6E8A-4147-A177-3AD203B41FA5}">
                      <a16:colId xmlns:a16="http://schemas.microsoft.com/office/drawing/2014/main" val="3308013798"/>
                    </a:ext>
                  </a:extLst>
                </a:gridCol>
              </a:tblGrid>
              <a:tr h="375445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9634935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36491059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44122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81293499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6686582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00345726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681596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26313673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38371676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96780809"/>
                  </a:ext>
                </a:extLst>
              </a:tr>
              <a:tr h="38066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73608242"/>
                  </a:ext>
                </a:extLst>
              </a:tr>
            </a:tbl>
          </a:graphicData>
        </a:graphic>
      </p:graphicFrame>
      <p:graphicFrame>
        <p:nvGraphicFramePr>
          <p:cNvPr id="117" name="Table 12">
            <a:extLst>
              <a:ext uri="{FF2B5EF4-FFF2-40B4-BE49-F238E27FC236}">
                <a16:creationId xmlns:a16="http://schemas.microsoft.com/office/drawing/2014/main" id="{BC72E8E3-2261-44D9-9839-01FB263D5467}"/>
              </a:ext>
            </a:extLst>
          </p:cNvPr>
          <p:cNvGraphicFramePr>
            <a:graphicFrameLocks noGrp="1"/>
          </p:cNvGraphicFramePr>
          <p:nvPr/>
        </p:nvGraphicFramePr>
        <p:xfrm>
          <a:off x="7603316" y="4289499"/>
          <a:ext cx="4390705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99155">
                  <a:extLst>
                    <a:ext uri="{9D8B030D-6E8A-4147-A177-3AD203B41FA5}">
                      <a16:colId xmlns:a16="http://schemas.microsoft.com/office/drawing/2014/main" val="1695629604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75842218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65800155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91699361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4066187747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881487175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1781361406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4262066533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595696453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319725768"/>
                    </a:ext>
                  </a:extLst>
                </a:gridCol>
                <a:gridCol w="399155">
                  <a:extLst>
                    <a:ext uri="{9D8B030D-6E8A-4147-A177-3AD203B41FA5}">
                      <a16:colId xmlns:a16="http://schemas.microsoft.com/office/drawing/2014/main" val="2274748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0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1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2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3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4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5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6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7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8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dirty="0"/>
                        <a:t>9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1400" dirty="0"/>
                        <a:t>10</a:t>
                      </a:r>
                      <a:endParaRPr 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79034456"/>
                  </a:ext>
                </a:extLst>
              </a:tr>
            </a:tbl>
          </a:graphicData>
        </a:graphic>
      </p:graphicFrame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E74D04B7-64C7-49C0-A524-F02C7394A2EC}"/>
              </a:ext>
            </a:extLst>
          </p:cNvPr>
          <p:cNvCxnSpPr/>
          <p:nvPr/>
        </p:nvCxnSpPr>
        <p:spPr>
          <a:xfrm>
            <a:off x="7559386" y="4782111"/>
            <a:ext cx="45755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AB0542C3-3423-4DD3-A6F7-D4C495BEE685}"/>
              </a:ext>
            </a:extLst>
          </p:cNvPr>
          <p:cNvCxnSpPr/>
          <p:nvPr/>
        </p:nvCxnSpPr>
        <p:spPr>
          <a:xfrm flipV="1">
            <a:off x="7049785" y="107454"/>
            <a:ext cx="0" cy="41681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9C095CB4-A727-4487-B69B-9DFBA1FAC428}"/>
              </a:ext>
            </a:extLst>
          </p:cNvPr>
          <p:cNvSpPr txBox="1"/>
          <p:nvPr/>
        </p:nvSpPr>
        <p:spPr>
          <a:xfrm>
            <a:off x="9110660" y="5538095"/>
            <a:ext cx="16551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bl:org</a:t>
            </a:r>
            <a:r>
              <a:rPr lang="it-IT" dirty="0"/>
              <a:t>=0.8</a:t>
            </a:r>
          </a:p>
          <a:p>
            <a:r>
              <a:rPr lang="it-IT" dirty="0" err="1"/>
              <a:t>bl</a:t>
            </a:r>
            <a:r>
              <a:rPr lang="it-IT" dirty="0"/>
              <a:t>&gt;</a:t>
            </a:r>
            <a:r>
              <a:rPr lang="it-IT" dirty="0" err="1"/>
              <a:t>crl:sqr</a:t>
            </a:r>
            <a:r>
              <a:rPr lang="it-IT" dirty="0"/>
              <a:t>=0.8</a:t>
            </a:r>
          </a:p>
          <a:p>
            <a:r>
              <a:rPr lang="it-IT" dirty="0" err="1"/>
              <a:t>org</a:t>
            </a:r>
            <a:r>
              <a:rPr lang="it-IT" dirty="0"/>
              <a:t>&gt;</a:t>
            </a:r>
            <a:r>
              <a:rPr lang="it-IT" dirty="0" err="1"/>
              <a:t>crl:sqr</a:t>
            </a:r>
            <a:r>
              <a:rPr lang="it-IT" dirty="0"/>
              <a:t>=0.2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C8423A0-E751-4AC7-879C-53DDB0B0EEA5}"/>
              </a:ext>
            </a:extLst>
          </p:cNvPr>
          <p:cNvSpPr txBox="1"/>
          <p:nvPr/>
        </p:nvSpPr>
        <p:spPr>
          <a:xfrm>
            <a:off x="6055367" y="5646553"/>
            <a:ext cx="1754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bl:org</a:t>
            </a:r>
            <a:r>
              <a:rPr lang="it-IT" dirty="0"/>
              <a:t>=0.5</a:t>
            </a:r>
          </a:p>
          <a:p>
            <a:r>
              <a:rPr lang="it-IT" dirty="0" err="1"/>
              <a:t>bl</a:t>
            </a:r>
            <a:r>
              <a:rPr lang="it-IT" dirty="0"/>
              <a:t>&gt;</a:t>
            </a:r>
            <a:r>
              <a:rPr lang="it-IT" dirty="0" err="1"/>
              <a:t>crl:sqr</a:t>
            </a:r>
            <a:r>
              <a:rPr lang="it-IT" dirty="0"/>
              <a:t>=0.8</a:t>
            </a:r>
          </a:p>
          <a:p>
            <a:r>
              <a:rPr lang="it-IT" dirty="0" err="1"/>
              <a:t>org</a:t>
            </a:r>
            <a:r>
              <a:rPr lang="it-IT" dirty="0"/>
              <a:t>&gt;</a:t>
            </a:r>
            <a:r>
              <a:rPr lang="it-IT" dirty="0" err="1"/>
              <a:t>crl:sqr</a:t>
            </a:r>
            <a:r>
              <a:rPr lang="it-IT" dirty="0"/>
              <a:t>=0.2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65ACE685-35FC-4E91-9E04-1B8C00BDDBBB}"/>
              </a:ext>
            </a:extLst>
          </p:cNvPr>
          <p:cNvSpPr txBox="1"/>
          <p:nvPr/>
        </p:nvSpPr>
        <p:spPr>
          <a:xfrm>
            <a:off x="2972282" y="5663217"/>
            <a:ext cx="1754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bl:org</a:t>
            </a:r>
            <a:r>
              <a:rPr lang="it-IT" dirty="0"/>
              <a:t>=0.8</a:t>
            </a:r>
          </a:p>
          <a:p>
            <a:r>
              <a:rPr lang="it-IT" dirty="0" err="1"/>
              <a:t>bl</a:t>
            </a:r>
            <a:r>
              <a:rPr lang="it-IT" dirty="0"/>
              <a:t>&gt;</a:t>
            </a:r>
            <a:r>
              <a:rPr lang="it-IT" dirty="0" err="1"/>
              <a:t>crl:sqr</a:t>
            </a:r>
            <a:r>
              <a:rPr lang="it-IT" dirty="0"/>
              <a:t>=0.5</a:t>
            </a:r>
          </a:p>
          <a:p>
            <a:r>
              <a:rPr lang="it-IT" dirty="0" err="1"/>
              <a:t>org</a:t>
            </a:r>
            <a:r>
              <a:rPr lang="it-IT" dirty="0"/>
              <a:t>&gt;</a:t>
            </a:r>
            <a:r>
              <a:rPr lang="it-IT" dirty="0" err="1"/>
              <a:t>crl:sqr</a:t>
            </a:r>
            <a:r>
              <a:rPr lang="it-IT" dirty="0"/>
              <a:t>=0.5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D8138749-DAE4-4262-A7B7-D277217E0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044" y="5257599"/>
            <a:ext cx="1599962" cy="1578414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5E0D6189-6A77-49B9-B308-A2121A52D7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0876" y="5200554"/>
            <a:ext cx="1581838" cy="1635459"/>
          </a:xfrm>
          <a:prstGeom prst="rect">
            <a:avLst/>
          </a:prstGeom>
        </p:spPr>
      </p:pic>
      <p:pic>
        <p:nvPicPr>
          <p:cNvPr id="126" name="Picture 125">
            <a:extLst>
              <a:ext uri="{FF2B5EF4-FFF2-40B4-BE49-F238E27FC236}">
                <a16:creationId xmlns:a16="http://schemas.microsoft.com/office/drawing/2014/main" id="{B917574A-366B-44A3-BD33-1A77F87CF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1598" y="5274373"/>
            <a:ext cx="1566340" cy="1646255"/>
          </a:xfrm>
          <a:prstGeom prst="rect">
            <a:avLst/>
          </a:prstGeom>
        </p:spPr>
      </p:pic>
      <p:pic>
        <p:nvPicPr>
          <p:cNvPr id="127" name="Picture 126">
            <a:extLst>
              <a:ext uri="{FF2B5EF4-FFF2-40B4-BE49-F238E27FC236}">
                <a16:creationId xmlns:a16="http://schemas.microsoft.com/office/drawing/2014/main" id="{3BCA8A2F-B4A6-46E7-AFCF-5DF4DF3FA8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0500" y="5274982"/>
            <a:ext cx="1617941" cy="1645646"/>
          </a:xfrm>
          <a:prstGeom prst="rect">
            <a:avLst/>
          </a:prstGeom>
        </p:spPr>
      </p:pic>
      <p:sp>
        <p:nvSpPr>
          <p:cNvPr id="128" name="TextBox 127">
            <a:extLst>
              <a:ext uri="{FF2B5EF4-FFF2-40B4-BE49-F238E27FC236}">
                <a16:creationId xmlns:a16="http://schemas.microsoft.com/office/drawing/2014/main" id="{3EF62DB8-071B-4B3A-B479-F537A65AE9B1}"/>
              </a:ext>
            </a:extLst>
          </p:cNvPr>
          <p:cNvSpPr txBox="1"/>
          <p:nvPr/>
        </p:nvSpPr>
        <p:spPr>
          <a:xfrm>
            <a:off x="0" y="5649265"/>
            <a:ext cx="17544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 err="1"/>
              <a:t>bl:org</a:t>
            </a:r>
            <a:r>
              <a:rPr lang="it-IT" dirty="0"/>
              <a:t>=0.5</a:t>
            </a:r>
          </a:p>
          <a:p>
            <a:r>
              <a:rPr lang="it-IT" dirty="0" err="1"/>
              <a:t>bl</a:t>
            </a:r>
            <a:r>
              <a:rPr lang="it-IT" dirty="0"/>
              <a:t>&gt;</a:t>
            </a:r>
            <a:r>
              <a:rPr lang="it-IT" dirty="0" err="1"/>
              <a:t>crl:sqr</a:t>
            </a:r>
            <a:r>
              <a:rPr lang="it-IT" dirty="0"/>
              <a:t>=0.5</a:t>
            </a:r>
          </a:p>
          <a:p>
            <a:r>
              <a:rPr lang="it-IT" dirty="0" err="1"/>
              <a:t>org</a:t>
            </a:r>
            <a:r>
              <a:rPr lang="it-IT" dirty="0"/>
              <a:t>&gt;</a:t>
            </a:r>
            <a:r>
              <a:rPr lang="it-IT" dirty="0" err="1"/>
              <a:t>crl:sqr</a:t>
            </a:r>
            <a:r>
              <a:rPr lang="it-IT" dirty="0"/>
              <a:t>=0.5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90232B58-943D-410D-A9C4-BBC928EBCB98}"/>
              </a:ext>
            </a:extLst>
          </p:cNvPr>
          <p:cNvSpPr txBox="1"/>
          <p:nvPr/>
        </p:nvSpPr>
        <p:spPr>
          <a:xfrm>
            <a:off x="-44020" y="1566041"/>
            <a:ext cx="1069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 err="1"/>
              <a:t>Ethnic</a:t>
            </a:r>
            <a:r>
              <a:rPr lang="it-IT" sz="1400" dirty="0"/>
              <a:t> </a:t>
            </a:r>
            <a:r>
              <a:rPr lang="it-IT" sz="1400" dirty="0" err="1"/>
              <a:t>segregation</a:t>
            </a:r>
            <a:endParaRPr lang="en-US" sz="1400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96247D62-0D7C-4918-9FD4-E3DD62A09709}"/>
              </a:ext>
            </a:extLst>
          </p:cNvPr>
          <p:cNvSpPr txBox="1"/>
          <p:nvPr/>
        </p:nvSpPr>
        <p:spPr>
          <a:xfrm>
            <a:off x="6047645" y="1566710"/>
            <a:ext cx="1069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dirty="0"/>
              <a:t>Value </a:t>
            </a:r>
            <a:r>
              <a:rPr lang="it-IT" sz="1400" dirty="0" err="1"/>
              <a:t>segregation</a:t>
            </a:r>
            <a:endParaRPr lang="en-US" sz="1400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84C9680-40ED-400A-88FC-F7EF0AEAA8CB}"/>
              </a:ext>
            </a:extLst>
          </p:cNvPr>
          <p:cNvSpPr txBox="1"/>
          <p:nvPr/>
        </p:nvSpPr>
        <p:spPr>
          <a:xfrm>
            <a:off x="11378279" y="4765630"/>
            <a:ext cx="632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v□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9E77F91-139D-4E9F-A9B3-C0DA5529E11F}"/>
              </a:ext>
            </a:extLst>
          </p:cNvPr>
          <p:cNvSpPr/>
          <p:nvPr/>
        </p:nvSpPr>
        <p:spPr>
          <a:xfrm>
            <a:off x="0" y="5274373"/>
            <a:ext cx="3007994" cy="158362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84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EA73B7E-91E6-41A2-B400-664C0FEF014A}"/>
              </a:ext>
            </a:extLst>
          </p:cNvPr>
          <p:cNvCxnSpPr>
            <a:cxnSpLocks/>
          </p:cNvCxnSpPr>
          <p:nvPr/>
        </p:nvCxnSpPr>
        <p:spPr>
          <a:xfrm>
            <a:off x="1810969" y="864724"/>
            <a:ext cx="0" cy="38002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FFCD9DC-1E55-49DC-850C-A63EF27C81EE}"/>
              </a:ext>
            </a:extLst>
          </p:cNvPr>
          <p:cNvSpPr txBox="1"/>
          <p:nvPr/>
        </p:nvSpPr>
        <p:spPr>
          <a:xfrm>
            <a:off x="1827187" y="1004159"/>
            <a:ext cx="1235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e□ ≥ </a:t>
            </a:r>
            <a:r>
              <a:rPr lang="el-GR" dirty="0"/>
              <a:t>β</a:t>
            </a:r>
            <a:r>
              <a:rPr lang="it-IT" dirty="0"/>
              <a:t>v□ 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793B01-48A2-4768-82B9-7A1CE95D19A6}"/>
              </a:ext>
            </a:extLst>
          </p:cNvPr>
          <p:cNvSpPr txBox="1"/>
          <p:nvPr/>
        </p:nvSpPr>
        <p:spPr>
          <a:xfrm>
            <a:off x="3202031" y="1009178"/>
            <a:ext cx="1235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/>
              <a:t>v○ ≥ </a:t>
            </a:r>
            <a:r>
              <a:rPr lang="el-GR" dirty="0"/>
              <a:t>β</a:t>
            </a:r>
            <a:r>
              <a:rPr lang="it-IT" dirty="0"/>
              <a:t>e○ 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677D98-B1CB-4CA7-953F-2A0D97201C19}"/>
              </a:ext>
            </a:extLst>
          </p:cNvPr>
          <p:cNvSpPr txBox="1"/>
          <p:nvPr/>
        </p:nvSpPr>
        <p:spPr>
          <a:xfrm>
            <a:off x="3004238" y="1004159"/>
            <a:ext cx="39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;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84DFA3-6C83-45B8-AEB2-3249D51B91FC}"/>
              </a:ext>
            </a:extLst>
          </p:cNvPr>
          <p:cNvSpPr txBox="1"/>
          <p:nvPr/>
        </p:nvSpPr>
        <p:spPr>
          <a:xfrm>
            <a:off x="1048452" y="358936"/>
            <a:ext cx="1525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Heterogeneity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8648E2-5977-4E76-A9EB-7BA5C1E4CAF7}"/>
              </a:ext>
            </a:extLst>
          </p:cNvPr>
          <p:cNvSpPr txBox="1"/>
          <p:nvPr/>
        </p:nvSpPr>
        <p:spPr>
          <a:xfrm>
            <a:off x="568349" y="978104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Individual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36B8EA-5B38-4F0C-9487-EFE185161C7C}"/>
              </a:ext>
            </a:extLst>
          </p:cNvPr>
          <p:cNvSpPr txBox="1"/>
          <p:nvPr/>
        </p:nvSpPr>
        <p:spPr>
          <a:xfrm>
            <a:off x="302637" y="1934394"/>
            <a:ext cx="14200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Within</a:t>
            </a:r>
            <a:r>
              <a:rPr lang="it-IT" dirty="0"/>
              <a:t> group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4DE531-F5C6-456C-BAF8-6EDD442D32A9}"/>
              </a:ext>
            </a:extLst>
          </p:cNvPr>
          <p:cNvSpPr txBox="1"/>
          <p:nvPr/>
        </p:nvSpPr>
        <p:spPr>
          <a:xfrm>
            <a:off x="1827187" y="1749728"/>
            <a:ext cx="1459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 err="1"/>
              <a:t>eL</a:t>
            </a:r>
            <a:r>
              <a:rPr lang="it-IT" dirty="0"/>
              <a:t>□ ≥ </a:t>
            </a:r>
            <a:r>
              <a:rPr lang="el-GR" dirty="0"/>
              <a:t>β</a:t>
            </a:r>
            <a:r>
              <a:rPr lang="it-IT" dirty="0" err="1"/>
              <a:t>eL</a:t>
            </a:r>
            <a:r>
              <a:rPr lang="it-IT" dirty="0"/>
              <a:t>○ 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CB0A49-F4AA-4861-97C6-FF2160509761}"/>
              </a:ext>
            </a:extLst>
          </p:cNvPr>
          <p:cNvSpPr txBox="1"/>
          <p:nvPr/>
        </p:nvSpPr>
        <p:spPr>
          <a:xfrm>
            <a:off x="1843508" y="2119060"/>
            <a:ext cx="1459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 err="1"/>
              <a:t>vL</a:t>
            </a:r>
            <a:r>
              <a:rPr lang="it-IT" dirty="0"/>
              <a:t>○ ≥ </a:t>
            </a:r>
            <a:r>
              <a:rPr lang="el-GR" dirty="0"/>
              <a:t>β</a:t>
            </a:r>
            <a:r>
              <a:rPr lang="it-IT" dirty="0" err="1"/>
              <a:t>vL</a:t>
            </a:r>
            <a:r>
              <a:rPr lang="it-IT" dirty="0"/>
              <a:t>□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C58A98-2C8A-4F70-A094-5D844A282BDF}"/>
              </a:ext>
            </a:extLst>
          </p:cNvPr>
          <p:cNvSpPr txBox="1"/>
          <p:nvPr/>
        </p:nvSpPr>
        <p:spPr>
          <a:xfrm>
            <a:off x="3303461" y="1714223"/>
            <a:ext cx="168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 err="1"/>
              <a:t>eM</a:t>
            </a:r>
            <a:r>
              <a:rPr lang="it-IT" dirty="0"/>
              <a:t>□ ≥ </a:t>
            </a:r>
            <a:r>
              <a:rPr lang="el-GR" dirty="0"/>
              <a:t>β</a:t>
            </a:r>
            <a:r>
              <a:rPr lang="it-IT" dirty="0" err="1"/>
              <a:t>eM</a:t>
            </a:r>
            <a:r>
              <a:rPr lang="it-IT" dirty="0"/>
              <a:t>○ 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C330121-EEFF-4DE5-8AA5-B4717F551810}"/>
              </a:ext>
            </a:extLst>
          </p:cNvPr>
          <p:cNvSpPr txBox="1"/>
          <p:nvPr/>
        </p:nvSpPr>
        <p:spPr>
          <a:xfrm>
            <a:off x="3303357" y="2114668"/>
            <a:ext cx="16610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 err="1"/>
              <a:t>vM</a:t>
            </a:r>
            <a:r>
              <a:rPr lang="it-IT" dirty="0"/>
              <a:t>○ ≥ </a:t>
            </a:r>
            <a:r>
              <a:rPr lang="el-GR" dirty="0"/>
              <a:t>β</a:t>
            </a:r>
            <a:r>
              <a:rPr lang="it-IT" dirty="0" err="1"/>
              <a:t>vM</a:t>
            </a:r>
            <a:r>
              <a:rPr lang="it-IT" dirty="0"/>
              <a:t>□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DD4945-635C-4AFE-AED7-4342EDA8F131}"/>
              </a:ext>
            </a:extLst>
          </p:cNvPr>
          <p:cNvSpPr txBox="1"/>
          <p:nvPr/>
        </p:nvSpPr>
        <p:spPr>
          <a:xfrm>
            <a:off x="153201" y="3083723"/>
            <a:ext cx="16203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Between</a:t>
            </a:r>
            <a:r>
              <a:rPr lang="it-IT" dirty="0"/>
              <a:t> group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27BF9C-6C43-4216-8402-57FCDB0B0AF1}"/>
              </a:ext>
            </a:extLst>
          </p:cNvPr>
          <p:cNvSpPr txBox="1"/>
          <p:nvPr/>
        </p:nvSpPr>
        <p:spPr>
          <a:xfrm>
            <a:off x="3134754" y="1729780"/>
            <a:ext cx="39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;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9F3C74-D38F-45AD-91C6-1B6642D965AF}"/>
              </a:ext>
            </a:extLst>
          </p:cNvPr>
          <p:cNvSpPr txBox="1"/>
          <p:nvPr/>
        </p:nvSpPr>
        <p:spPr>
          <a:xfrm>
            <a:off x="3132335" y="2114668"/>
            <a:ext cx="288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;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1DDDA7E-4623-4670-98AE-F1BA36CEF50B}"/>
                  </a:ext>
                </a:extLst>
              </p:cNvPr>
              <p:cNvSpPr txBox="1"/>
              <p:nvPr/>
            </p:nvSpPr>
            <p:spPr>
              <a:xfrm>
                <a:off x="7381696" y="1749728"/>
                <a:ext cx="24320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1DDDA7E-4623-4670-98AE-F1BA36CEF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1696" y="1749728"/>
                <a:ext cx="243201" cy="369332"/>
              </a:xfrm>
              <a:prstGeom prst="rect">
                <a:avLst/>
              </a:prstGeom>
              <a:blipFill>
                <a:blip r:embed="rId2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8FA6CB86-907D-4D6D-A2BE-E47E71F2D32D}"/>
              </a:ext>
            </a:extLst>
          </p:cNvPr>
          <p:cNvSpPr txBox="1"/>
          <p:nvPr/>
        </p:nvSpPr>
        <p:spPr>
          <a:xfrm>
            <a:off x="7738342" y="1749728"/>
            <a:ext cx="14599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 err="1"/>
              <a:t>eL</a:t>
            </a:r>
            <a:r>
              <a:rPr lang="it-IT" dirty="0"/>
              <a:t>□ ≥ </a:t>
            </a:r>
            <a:r>
              <a:rPr lang="el-GR" dirty="0"/>
              <a:t>β</a:t>
            </a:r>
            <a:r>
              <a:rPr lang="it-IT" dirty="0" err="1"/>
              <a:t>eM</a:t>
            </a:r>
            <a:r>
              <a:rPr lang="it-IT" dirty="0"/>
              <a:t>○ 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1832A3-9AF9-4174-9088-99C79ECA7735}"/>
              </a:ext>
            </a:extLst>
          </p:cNvPr>
          <p:cNvSpPr txBox="1"/>
          <p:nvPr/>
        </p:nvSpPr>
        <p:spPr>
          <a:xfrm>
            <a:off x="9099399" y="1749728"/>
            <a:ext cx="395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;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D61D47-7086-4540-8A74-AA351DCF077B}"/>
              </a:ext>
            </a:extLst>
          </p:cNvPr>
          <p:cNvSpPr txBox="1"/>
          <p:nvPr/>
        </p:nvSpPr>
        <p:spPr>
          <a:xfrm>
            <a:off x="9297192" y="1749728"/>
            <a:ext cx="168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/>
              <a:t>β</a:t>
            </a:r>
            <a:r>
              <a:rPr lang="it-IT" dirty="0" err="1"/>
              <a:t>eM</a:t>
            </a:r>
            <a:r>
              <a:rPr lang="it-IT" dirty="0"/>
              <a:t>□ ≥ </a:t>
            </a:r>
            <a:r>
              <a:rPr lang="el-GR" dirty="0"/>
              <a:t>β</a:t>
            </a:r>
            <a:r>
              <a:rPr lang="it-IT" dirty="0" err="1"/>
              <a:t>eL</a:t>
            </a:r>
            <a:r>
              <a:rPr lang="it-IT" dirty="0"/>
              <a:t>○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225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70EED009-1C04-40AB-9D37-F88BE93785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8149369"/>
              </p:ext>
            </p:extLst>
          </p:nvPr>
        </p:nvGraphicFramePr>
        <p:xfrm>
          <a:off x="3412105" y="2075859"/>
          <a:ext cx="1891072" cy="1404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6672">
                  <a:extLst>
                    <a:ext uri="{9D8B030D-6E8A-4147-A177-3AD203B41FA5}">
                      <a16:colId xmlns:a16="http://schemas.microsoft.com/office/drawing/2014/main" val="364175639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650099921"/>
                    </a:ext>
                  </a:extLst>
                </a:gridCol>
              </a:tblGrid>
              <a:tr h="7020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954237"/>
                  </a:ext>
                </a:extLst>
              </a:tr>
              <a:tr h="7020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038689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48DF496C-6B3F-4829-BA0F-3B5324253315}"/>
              </a:ext>
            </a:extLst>
          </p:cNvPr>
          <p:cNvSpPr txBox="1"/>
          <p:nvPr/>
        </p:nvSpPr>
        <p:spPr>
          <a:xfrm>
            <a:off x="3376053" y="1710156"/>
            <a:ext cx="100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Ethn</a:t>
            </a:r>
            <a:r>
              <a:rPr lang="it-IT" dirty="0"/>
              <a:t> 1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1D1D0F-1545-43F6-9B9A-A9AFBB20FA58}"/>
              </a:ext>
            </a:extLst>
          </p:cNvPr>
          <p:cNvSpPr txBox="1"/>
          <p:nvPr/>
        </p:nvSpPr>
        <p:spPr>
          <a:xfrm>
            <a:off x="2290697" y="2225727"/>
            <a:ext cx="113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Value 1</a:t>
            </a:r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53EFA84-1392-4E2A-9ECF-7E843DBBDE36}"/>
              </a:ext>
            </a:extLst>
          </p:cNvPr>
          <p:cNvSpPr/>
          <p:nvPr/>
        </p:nvSpPr>
        <p:spPr>
          <a:xfrm>
            <a:off x="3638128" y="2172272"/>
            <a:ext cx="530942" cy="4522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A02571C-397C-43EF-833B-70B0F46E59FB}"/>
              </a:ext>
            </a:extLst>
          </p:cNvPr>
          <p:cNvSpPr/>
          <p:nvPr/>
        </p:nvSpPr>
        <p:spPr>
          <a:xfrm>
            <a:off x="4560335" y="2172272"/>
            <a:ext cx="530942" cy="45228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D50F2DF-6B25-4C80-BCF0-851795104596}"/>
              </a:ext>
            </a:extLst>
          </p:cNvPr>
          <p:cNvSpPr/>
          <p:nvPr/>
        </p:nvSpPr>
        <p:spPr>
          <a:xfrm>
            <a:off x="3681867" y="2865445"/>
            <a:ext cx="461104" cy="452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9E95A57-ED7C-4E1E-A122-485BB9C76829}"/>
              </a:ext>
            </a:extLst>
          </p:cNvPr>
          <p:cNvSpPr/>
          <p:nvPr/>
        </p:nvSpPr>
        <p:spPr>
          <a:xfrm>
            <a:off x="4595254" y="2865445"/>
            <a:ext cx="461104" cy="45228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CA9DC9-C34E-47BE-BA6A-DE6950DE1E84}"/>
              </a:ext>
            </a:extLst>
          </p:cNvPr>
          <p:cNvSpPr txBox="1"/>
          <p:nvPr/>
        </p:nvSpPr>
        <p:spPr>
          <a:xfrm>
            <a:off x="3376052" y="2053092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988976-7521-4524-86DA-DF2D9639D907}"/>
              </a:ext>
            </a:extLst>
          </p:cNvPr>
          <p:cNvSpPr txBox="1"/>
          <p:nvPr/>
        </p:nvSpPr>
        <p:spPr>
          <a:xfrm>
            <a:off x="4153369" y="2519555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0AC066-E651-4C28-9DE9-B08352FD24DF}"/>
              </a:ext>
            </a:extLst>
          </p:cNvPr>
          <p:cNvSpPr txBox="1"/>
          <p:nvPr/>
        </p:nvSpPr>
        <p:spPr>
          <a:xfrm>
            <a:off x="4334312" y="2738394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353E38-0259-445D-8ADD-6D8C816FE58D}"/>
              </a:ext>
            </a:extLst>
          </p:cNvPr>
          <p:cNvSpPr txBox="1"/>
          <p:nvPr/>
        </p:nvSpPr>
        <p:spPr>
          <a:xfrm>
            <a:off x="3352993" y="2765361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E1DE64-75E7-490B-AAED-E08999113688}"/>
              </a:ext>
            </a:extLst>
          </p:cNvPr>
          <p:cNvSpPr txBox="1"/>
          <p:nvPr/>
        </p:nvSpPr>
        <p:spPr>
          <a:xfrm>
            <a:off x="4351087" y="2057439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E2080D-9630-40F2-BE78-131DBE507D8D}"/>
              </a:ext>
            </a:extLst>
          </p:cNvPr>
          <p:cNvSpPr txBox="1"/>
          <p:nvPr/>
        </p:nvSpPr>
        <p:spPr>
          <a:xfrm>
            <a:off x="5069409" y="2553728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09A775-550E-477A-82AA-041A4D8A0E8C}"/>
              </a:ext>
            </a:extLst>
          </p:cNvPr>
          <p:cNvSpPr txBox="1"/>
          <p:nvPr/>
        </p:nvSpPr>
        <p:spPr>
          <a:xfrm>
            <a:off x="4136249" y="3221564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2AABE2-0F56-4C87-93B3-255C768D3B9F}"/>
              </a:ext>
            </a:extLst>
          </p:cNvPr>
          <p:cNvSpPr txBox="1"/>
          <p:nvPr/>
        </p:nvSpPr>
        <p:spPr>
          <a:xfrm>
            <a:off x="5055002" y="3231076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AE4B8B-C0CC-46D8-933C-166818425F0E}"/>
              </a:ext>
            </a:extLst>
          </p:cNvPr>
          <p:cNvSpPr txBox="1"/>
          <p:nvPr/>
        </p:nvSpPr>
        <p:spPr>
          <a:xfrm>
            <a:off x="522606" y="811901"/>
            <a:ext cx="129646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dirty="0" err="1"/>
              <a:t>Income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B5BF8C-3787-4BF0-A71A-02433A632543}"/>
              </a:ext>
            </a:extLst>
          </p:cNvPr>
          <p:cNvSpPr txBox="1"/>
          <p:nvPr/>
        </p:nvSpPr>
        <p:spPr>
          <a:xfrm>
            <a:off x="2273524" y="2888887"/>
            <a:ext cx="113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Value 2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69DF98-1E95-493A-855D-3C6A4BE47AC4}"/>
              </a:ext>
            </a:extLst>
          </p:cNvPr>
          <p:cNvSpPr txBox="1"/>
          <p:nvPr/>
        </p:nvSpPr>
        <p:spPr>
          <a:xfrm>
            <a:off x="4290281" y="1706527"/>
            <a:ext cx="100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Ethn</a:t>
            </a:r>
            <a:r>
              <a:rPr lang="it-IT" dirty="0"/>
              <a:t> 2</a:t>
            </a:r>
            <a:endParaRPr lang="en-US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F664EA-B5DC-4CC0-ADCF-4DEEF190EAA7}"/>
              </a:ext>
            </a:extLst>
          </p:cNvPr>
          <p:cNvSpPr txBox="1"/>
          <p:nvPr/>
        </p:nvSpPr>
        <p:spPr>
          <a:xfrm>
            <a:off x="6460147" y="4009869"/>
            <a:ext cx="137064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dirty="0" err="1"/>
              <a:t>Preferences</a:t>
            </a:r>
            <a:endParaRPr lang="en-US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E3017FB-F6D1-415D-A577-1D0E2DB9A9C6}"/>
              </a:ext>
            </a:extLst>
          </p:cNvPr>
          <p:cNvSpPr txBox="1"/>
          <p:nvPr/>
        </p:nvSpPr>
        <p:spPr>
          <a:xfrm>
            <a:off x="8334316" y="4009869"/>
            <a:ext cx="137064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dirty="0"/>
              <a:t>Costs</a:t>
            </a:r>
            <a:endParaRPr lang="en-US" dirty="0"/>
          </a:p>
        </p:txBody>
      </p:sp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865E2A7-4DCA-4C5D-A734-B8EABCB9AFD6}"/>
              </a:ext>
            </a:extLst>
          </p:cNvPr>
          <p:cNvCxnSpPr>
            <a:cxnSpLocks/>
            <a:stCxn id="49" idx="3"/>
            <a:endCxn id="58" idx="0"/>
          </p:cNvCxnSpPr>
          <p:nvPr/>
        </p:nvCxnSpPr>
        <p:spPr>
          <a:xfrm>
            <a:off x="1819073" y="996567"/>
            <a:ext cx="7200566" cy="301330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D9583590-3FF4-4631-A4BA-AFB372FF1E7C}"/>
              </a:ext>
            </a:extLst>
          </p:cNvPr>
          <p:cNvCxnSpPr>
            <a:cxnSpLocks/>
            <a:stCxn id="49" idx="2"/>
          </p:cNvCxnSpPr>
          <p:nvPr/>
        </p:nvCxnSpPr>
        <p:spPr>
          <a:xfrm rot="16200000" flipH="1">
            <a:off x="898525" y="1453548"/>
            <a:ext cx="1584130" cy="1039500"/>
          </a:xfrm>
          <a:prstGeom prst="bentConnector3">
            <a:avLst>
              <a:gd name="adj1" fmla="val 10035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05B859C2-CE8E-42AA-98DB-62334C11B0C4}"/>
              </a:ext>
            </a:extLst>
          </p:cNvPr>
          <p:cNvCxnSpPr>
            <a:endCxn id="57" idx="0"/>
          </p:cNvCxnSpPr>
          <p:nvPr/>
        </p:nvCxnSpPr>
        <p:spPr>
          <a:xfrm>
            <a:off x="5322659" y="2843154"/>
            <a:ext cx="1822811" cy="116671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998F128-96BE-4D8A-82FC-C63053E2F211}"/>
              </a:ext>
            </a:extLst>
          </p:cNvPr>
          <p:cNvSpPr txBox="1"/>
          <p:nvPr/>
        </p:nvSpPr>
        <p:spPr>
          <a:xfrm>
            <a:off x="7984146" y="4009869"/>
            <a:ext cx="196815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dirty="0"/>
              <a:t>-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2881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" name="Table 4">
            <a:extLst>
              <a:ext uri="{FF2B5EF4-FFF2-40B4-BE49-F238E27FC236}">
                <a16:creationId xmlns:a16="http://schemas.microsoft.com/office/drawing/2014/main" id="{70EED009-1C04-40AB-9D37-F88BE9378587}"/>
              </a:ext>
            </a:extLst>
          </p:cNvPr>
          <p:cNvGraphicFramePr>
            <a:graphicFrameLocks noGrp="1"/>
          </p:cNvGraphicFramePr>
          <p:nvPr/>
        </p:nvGraphicFramePr>
        <p:xfrm>
          <a:off x="3412105" y="2075859"/>
          <a:ext cx="1891072" cy="14041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6672">
                  <a:extLst>
                    <a:ext uri="{9D8B030D-6E8A-4147-A177-3AD203B41FA5}">
                      <a16:colId xmlns:a16="http://schemas.microsoft.com/office/drawing/2014/main" val="364175639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650099921"/>
                    </a:ext>
                  </a:extLst>
                </a:gridCol>
              </a:tblGrid>
              <a:tr h="7020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3954237"/>
                  </a:ext>
                </a:extLst>
              </a:tr>
              <a:tr h="702052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6038689"/>
                  </a:ext>
                </a:extLst>
              </a:tr>
            </a:tbl>
          </a:graphicData>
        </a:graphic>
      </p:graphicFrame>
      <p:sp>
        <p:nvSpPr>
          <p:cNvPr id="32" name="TextBox 31">
            <a:extLst>
              <a:ext uri="{FF2B5EF4-FFF2-40B4-BE49-F238E27FC236}">
                <a16:creationId xmlns:a16="http://schemas.microsoft.com/office/drawing/2014/main" id="{48DF496C-6B3F-4829-BA0F-3B5324253315}"/>
              </a:ext>
            </a:extLst>
          </p:cNvPr>
          <p:cNvSpPr txBox="1"/>
          <p:nvPr/>
        </p:nvSpPr>
        <p:spPr>
          <a:xfrm>
            <a:off x="3376053" y="1710156"/>
            <a:ext cx="100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Ethn</a:t>
            </a:r>
            <a:r>
              <a:rPr lang="it-IT" dirty="0"/>
              <a:t> 1</a:t>
            </a:r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F1D1D0F-1545-43F6-9B9A-A9AFBB20FA58}"/>
              </a:ext>
            </a:extLst>
          </p:cNvPr>
          <p:cNvSpPr txBox="1"/>
          <p:nvPr/>
        </p:nvSpPr>
        <p:spPr>
          <a:xfrm>
            <a:off x="2290697" y="2225727"/>
            <a:ext cx="113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Value 1</a:t>
            </a:r>
            <a:endParaRPr lang="en-US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253EFA84-1392-4E2A-9ECF-7E843DBBDE36}"/>
              </a:ext>
            </a:extLst>
          </p:cNvPr>
          <p:cNvSpPr/>
          <p:nvPr/>
        </p:nvSpPr>
        <p:spPr>
          <a:xfrm>
            <a:off x="3638128" y="2172272"/>
            <a:ext cx="530942" cy="45228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7A02571C-397C-43EF-833B-70B0F46E59FB}"/>
              </a:ext>
            </a:extLst>
          </p:cNvPr>
          <p:cNvSpPr/>
          <p:nvPr/>
        </p:nvSpPr>
        <p:spPr>
          <a:xfrm>
            <a:off x="4560335" y="2172272"/>
            <a:ext cx="530942" cy="452284"/>
          </a:xfrm>
          <a:prstGeom prst="ellips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D50F2DF-6B25-4C80-BCF0-851795104596}"/>
              </a:ext>
            </a:extLst>
          </p:cNvPr>
          <p:cNvSpPr/>
          <p:nvPr/>
        </p:nvSpPr>
        <p:spPr>
          <a:xfrm>
            <a:off x="3681867" y="2865445"/>
            <a:ext cx="461104" cy="4522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9E95A57-ED7C-4E1E-A122-485BB9C76829}"/>
              </a:ext>
            </a:extLst>
          </p:cNvPr>
          <p:cNvSpPr/>
          <p:nvPr/>
        </p:nvSpPr>
        <p:spPr>
          <a:xfrm>
            <a:off x="4595254" y="2865445"/>
            <a:ext cx="461104" cy="45228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CA9DC9-C34E-47BE-BA6A-DE6950DE1E84}"/>
              </a:ext>
            </a:extLst>
          </p:cNvPr>
          <p:cNvSpPr txBox="1"/>
          <p:nvPr/>
        </p:nvSpPr>
        <p:spPr>
          <a:xfrm>
            <a:off x="3376052" y="2053092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9988976-7521-4524-86DA-DF2D9639D907}"/>
              </a:ext>
            </a:extLst>
          </p:cNvPr>
          <p:cNvSpPr txBox="1"/>
          <p:nvPr/>
        </p:nvSpPr>
        <p:spPr>
          <a:xfrm>
            <a:off x="4153369" y="2519555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B0AC066-E651-4C28-9DE9-B08352FD24DF}"/>
              </a:ext>
            </a:extLst>
          </p:cNvPr>
          <p:cNvSpPr txBox="1"/>
          <p:nvPr/>
        </p:nvSpPr>
        <p:spPr>
          <a:xfrm>
            <a:off x="4334312" y="2738394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2353E38-0259-445D-8ADD-6D8C816FE58D}"/>
              </a:ext>
            </a:extLst>
          </p:cNvPr>
          <p:cNvSpPr txBox="1"/>
          <p:nvPr/>
        </p:nvSpPr>
        <p:spPr>
          <a:xfrm>
            <a:off x="3352993" y="2765361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E1DE64-75E7-490B-AAED-E08999113688}"/>
              </a:ext>
            </a:extLst>
          </p:cNvPr>
          <p:cNvSpPr txBox="1"/>
          <p:nvPr/>
        </p:nvSpPr>
        <p:spPr>
          <a:xfrm>
            <a:off x="4351087" y="2057439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*</a:t>
            </a:r>
            <a:endParaRPr lang="en-US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E2080D-9630-40F2-BE78-131DBE507D8D}"/>
              </a:ext>
            </a:extLst>
          </p:cNvPr>
          <p:cNvSpPr txBox="1"/>
          <p:nvPr/>
        </p:nvSpPr>
        <p:spPr>
          <a:xfrm>
            <a:off x="5069409" y="2553728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209A775-550E-477A-82AA-041A4D8A0E8C}"/>
              </a:ext>
            </a:extLst>
          </p:cNvPr>
          <p:cNvSpPr txBox="1"/>
          <p:nvPr/>
        </p:nvSpPr>
        <p:spPr>
          <a:xfrm>
            <a:off x="4136249" y="3221564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42AABE2-0F56-4C87-93B3-255C768D3B9F}"/>
              </a:ext>
            </a:extLst>
          </p:cNvPr>
          <p:cNvSpPr txBox="1"/>
          <p:nvPr/>
        </p:nvSpPr>
        <p:spPr>
          <a:xfrm>
            <a:off x="5055002" y="3231076"/>
            <a:ext cx="226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~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AE4B8B-C0CC-46D8-933C-166818425F0E}"/>
              </a:ext>
            </a:extLst>
          </p:cNvPr>
          <p:cNvSpPr txBox="1"/>
          <p:nvPr/>
        </p:nvSpPr>
        <p:spPr>
          <a:xfrm>
            <a:off x="522606" y="811901"/>
            <a:ext cx="129646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it-IT" dirty="0" err="1"/>
              <a:t>Income</a:t>
            </a:r>
            <a:endParaRPr 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B5BF8C-3787-4BF0-A71A-02433A632543}"/>
              </a:ext>
            </a:extLst>
          </p:cNvPr>
          <p:cNvSpPr txBox="1"/>
          <p:nvPr/>
        </p:nvSpPr>
        <p:spPr>
          <a:xfrm>
            <a:off x="2273524" y="2888887"/>
            <a:ext cx="11355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Value 2</a:t>
            </a:r>
            <a:endParaRPr 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C69DF98-1E95-493A-855D-3C6A4BE47AC4}"/>
              </a:ext>
            </a:extLst>
          </p:cNvPr>
          <p:cNvSpPr txBox="1"/>
          <p:nvPr/>
        </p:nvSpPr>
        <p:spPr>
          <a:xfrm>
            <a:off x="4290281" y="1706527"/>
            <a:ext cx="1003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Ethn</a:t>
            </a:r>
            <a:r>
              <a:rPr lang="it-IT" dirty="0"/>
              <a:t> 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AF664EA-B5DC-4CC0-ADCF-4DEEF190EAA7}"/>
                  </a:ext>
                </a:extLst>
              </p:cNvPr>
              <p:cNvSpPr txBox="1"/>
              <p:nvPr/>
            </p:nvSpPr>
            <p:spPr>
              <a:xfrm>
                <a:off x="7054984" y="3295297"/>
                <a:ext cx="1063146" cy="3693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it-IT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it-IT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it-IT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AF664EA-B5DC-4CC0-ADCF-4DEEF190EA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4984" y="3295297"/>
                <a:ext cx="1063146" cy="369332"/>
              </a:xfrm>
              <a:prstGeom prst="rect">
                <a:avLst/>
              </a:prstGeom>
              <a:blipFill>
                <a:blip r:embed="rId2"/>
                <a:stretch>
                  <a:fillRect l="-1714" b="-1333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E3017FB-F6D1-415D-A577-1D0E2DB9A9C6}"/>
                  </a:ext>
                </a:extLst>
              </p:cNvPr>
              <p:cNvSpPr txBox="1"/>
              <p:nvPr/>
            </p:nvSpPr>
            <p:spPr>
              <a:xfrm>
                <a:off x="7687822" y="4042213"/>
                <a:ext cx="735199" cy="3693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−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E3017FB-F6D1-415D-A577-1D0E2DB9A9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7822" y="4042213"/>
                <a:ext cx="735199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Connector: Elbow 2">
            <a:extLst>
              <a:ext uri="{FF2B5EF4-FFF2-40B4-BE49-F238E27FC236}">
                <a16:creationId xmlns:a16="http://schemas.microsoft.com/office/drawing/2014/main" id="{9865E2A7-4DCA-4C5D-A734-B8EABCB9AFD6}"/>
              </a:ext>
            </a:extLst>
          </p:cNvPr>
          <p:cNvCxnSpPr>
            <a:cxnSpLocks/>
            <a:stCxn id="49" idx="3"/>
            <a:endCxn id="58" idx="0"/>
          </p:cNvCxnSpPr>
          <p:nvPr/>
        </p:nvCxnSpPr>
        <p:spPr>
          <a:xfrm>
            <a:off x="1819073" y="996567"/>
            <a:ext cx="6236349" cy="304564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D9583590-3FF4-4631-A4BA-AFB372FF1E7C}"/>
              </a:ext>
            </a:extLst>
          </p:cNvPr>
          <p:cNvCxnSpPr>
            <a:cxnSpLocks/>
            <a:stCxn id="49" idx="2"/>
          </p:cNvCxnSpPr>
          <p:nvPr/>
        </p:nvCxnSpPr>
        <p:spPr>
          <a:xfrm rot="16200000" flipH="1">
            <a:off x="898525" y="1453548"/>
            <a:ext cx="1584130" cy="1039500"/>
          </a:xfrm>
          <a:prstGeom prst="bentConnector3">
            <a:avLst>
              <a:gd name="adj1" fmla="val 10035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05B859C2-CE8E-42AA-98DB-62334C11B0C4}"/>
              </a:ext>
            </a:extLst>
          </p:cNvPr>
          <p:cNvCxnSpPr>
            <a:cxnSpLocks/>
            <a:stCxn id="31" idx="3"/>
            <a:endCxn id="57" idx="0"/>
          </p:cNvCxnSpPr>
          <p:nvPr/>
        </p:nvCxnSpPr>
        <p:spPr>
          <a:xfrm>
            <a:off x="5303177" y="2777911"/>
            <a:ext cx="2283380" cy="517386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1AD946-C1D6-4BCC-9B07-CB89F7C0EA63}"/>
                  </a:ext>
                </a:extLst>
              </p:cNvPr>
              <p:cNvSpPr txBox="1"/>
              <p:nvPr/>
            </p:nvSpPr>
            <p:spPr>
              <a:xfrm>
                <a:off x="7450801" y="4042213"/>
                <a:ext cx="280547" cy="3693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51AD946-C1D6-4BCC-9B07-CB89F7C0E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801" y="4042213"/>
                <a:ext cx="280547" cy="369332"/>
              </a:xfrm>
              <a:prstGeom prst="rect">
                <a:avLst/>
              </a:prstGeom>
              <a:blipFill>
                <a:blip r:embed="rId4"/>
                <a:stretch>
                  <a:fillRect l="-1739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A3A67C2-123A-484A-9CD4-510B0AA71163}"/>
                  </a:ext>
                </a:extLst>
              </p:cNvPr>
              <p:cNvSpPr txBox="1"/>
              <p:nvPr/>
            </p:nvSpPr>
            <p:spPr>
              <a:xfrm>
                <a:off x="6757892" y="4042213"/>
                <a:ext cx="649383" cy="369332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DA3A67C2-123A-484A-9CD4-510B0AA711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7892" y="4042213"/>
                <a:ext cx="64938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D2F4E20-D50A-4728-9DE2-BD29F010956F}"/>
              </a:ext>
            </a:extLst>
          </p:cNvPr>
          <p:cNvCxnSpPr>
            <a:stCxn id="57" idx="2"/>
            <a:endCxn id="25" idx="0"/>
          </p:cNvCxnSpPr>
          <p:nvPr/>
        </p:nvCxnSpPr>
        <p:spPr>
          <a:xfrm>
            <a:off x="7586557" y="3664629"/>
            <a:ext cx="4518" cy="37758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035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</Words>
  <Application>Microsoft Office PowerPoint</Application>
  <PresentationFormat>Widescreen</PresentationFormat>
  <Paragraphs>505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Rocco Paolillo</dc:creator>
  <cp:lastModifiedBy>Rocco Paolillo</cp:lastModifiedBy>
  <cp:revision>25</cp:revision>
  <dcterms:created xsi:type="dcterms:W3CDTF">2020-01-13T10:08:49Z</dcterms:created>
  <dcterms:modified xsi:type="dcterms:W3CDTF">2020-02-04T11:56:20Z</dcterms:modified>
</cp:coreProperties>
</file>