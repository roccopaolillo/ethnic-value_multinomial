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5C89-A64E-4BA8-916D-CED4E0CE5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0FCC9-E22A-43FB-BD6C-EE099A823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6A8A-6D2C-4025-9E08-EE13E401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94D67-DC4C-46E0-ADC3-ADF2F352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D3DE-5548-4FE8-AA3A-E8628773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8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9D94-5720-4505-B3DB-579C980B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6B6D-78F4-4C1C-9838-17108430D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7C807-08CE-4271-B0ED-FC75E9B2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651F5-2A60-4C7C-BF27-140117D3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BBEAB-FDAC-461A-89B7-C2D9B714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2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D89A-7BD0-4016-A92E-CA504F0A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7F4FD-C816-4384-BE66-D4621572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C6A98-BFA4-4E7E-935E-D473F06F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36F4-28D1-4035-85BA-F9D9FCB9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D70CD-96BA-4C74-9424-AB089CE8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8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E561-0183-4427-97DE-26C00080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8FD76-DF0E-4319-88B9-37EBCD142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AA802-868F-47BC-AAE2-4929D93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F353E-5222-4CE6-BF04-7B0935F5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EC68D-0236-46DC-B7B3-B9FCD67E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0799E-73EE-4559-8BBB-7B37678A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2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84C1-E8DE-47E8-AE97-3CBEE36A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AF122-1CEE-4D9D-957E-3AC4B679C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80533-8AFF-49AD-9AA7-E67CC6CB5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76CD1-F052-44A5-8599-EE2564C8C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7CBC9-EF93-4616-9ED6-A5BB03B98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1CFA7-D609-4C0B-BF2A-B92AB9A6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EED01-4A32-43D2-84A7-9C5E6128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CDF95-8D83-4D49-BC5C-3CF4F7B4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3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4B0C-9EBB-45DD-8F81-87D53E17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271E7-305F-4E11-959E-805D9CCE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D7F58-7919-4252-9168-BCDF943A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3004C-9AC9-449C-8C85-A71B8BEF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5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F91F6-3520-4798-9261-8A3413323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0CFC8-F5D5-42CB-BCD8-ED20FC30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AC3DD-D10F-4AEC-9BCD-08B80E5A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0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A8A4-7769-42AB-949E-3D5AB72CB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55FC-93D1-4822-A2B2-302322AC8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36047-3D3C-450C-85F2-1634FDBDC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0121D-1CDA-4962-9EE6-8426813C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F69EB-62B1-4347-8C7C-7DCEFC07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37EA6-6DC1-49E5-BFD4-2B9C2F93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9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E298-CBBF-4588-8AE0-CA7ECF17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65BE4-1BB5-40B4-8509-CC8BBD46F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60540-BA7B-4725-A218-3119F5C07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6891-2444-41C9-979C-4224A1C2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C45C9-6016-4E62-986A-9E43D3BE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AFE33-6F1F-4330-B2B9-C2DFD78A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7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738D-9FFC-42D9-A44C-86EAFE35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6E0D5-19DF-4AC4-84BB-336C942FD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46970-FECA-43A6-9150-2FB18B4D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D33E5-8085-462B-BE18-41DF28C8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21E3-B6B6-4055-AF78-1CF0BCD9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9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90B4D-60F5-4BAE-AE96-F87931260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104B5-C914-4DE4-8AC9-604237AC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CBF9-88F8-45FA-9A39-5FD7FAA0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1450-E030-4F84-A273-A8AB79CA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41C0D-AB12-4FE2-AA6A-AE31B6D2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3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DA793-7FA8-47FC-ACDE-EC17977A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867EB-3F2B-4954-BE47-068363EE7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B5A4-2788-4C5B-B6AD-82D053C1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00B00-E0D3-43CA-95CD-9BE1DBDFEBED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3AA4-999D-4A33-822A-B3E2A0B4F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8439F-76C6-418F-9E8A-C4F673EB5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98559-011E-4E11-B920-13FE17A16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7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9A7F7E-349F-490B-A4A5-EF7B8F0DE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9440"/>
              </p:ext>
            </p:extLst>
          </p:nvPr>
        </p:nvGraphicFramePr>
        <p:xfrm>
          <a:off x="605414" y="1155288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4EBEE0-D963-43FD-90B0-573C49CCD035}"/>
              </a:ext>
            </a:extLst>
          </p:cNvPr>
          <p:cNvSpPr txBox="1"/>
          <p:nvPr/>
        </p:nvSpPr>
        <p:spPr>
          <a:xfrm>
            <a:off x="569362" y="789585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ETHNICITY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50ABC-E9A9-4496-BB25-EC3657A97183}"/>
              </a:ext>
            </a:extLst>
          </p:cNvPr>
          <p:cNvSpPr txBox="1"/>
          <p:nvPr/>
        </p:nvSpPr>
        <p:spPr>
          <a:xfrm rot="16200000">
            <a:off x="-281304" y="1688045"/>
            <a:ext cx="1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95EAE6-FA44-4C74-ABB6-6C59EC3EDE86}"/>
              </a:ext>
            </a:extLst>
          </p:cNvPr>
          <p:cNvSpPr/>
          <p:nvPr/>
        </p:nvSpPr>
        <p:spPr>
          <a:xfrm>
            <a:off x="831437" y="1251701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4B0E6C-B286-427D-9B4F-A6FEE220CF0C}"/>
              </a:ext>
            </a:extLst>
          </p:cNvPr>
          <p:cNvSpPr/>
          <p:nvPr/>
        </p:nvSpPr>
        <p:spPr>
          <a:xfrm>
            <a:off x="1753644" y="1251701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3C8DF3-B692-47E3-B369-C64AB4138D53}"/>
              </a:ext>
            </a:extLst>
          </p:cNvPr>
          <p:cNvSpPr/>
          <p:nvPr/>
        </p:nvSpPr>
        <p:spPr>
          <a:xfrm>
            <a:off x="875176" y="1944874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7AFBA-0E3D-46DA-BB9F-5F1C7579A2F8}"/>
              </a:ext>
            </a:extLst>
          </p:cNvPr>
          <p:cNvSpPr/>
          <p:nvPr/>
        </p:nvSpPr>
        <p:spPr>
          <a:xfrm>
            <a:off x="1788563" y="1944874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FE09-6BEB-45A9-A7A9-EF12ED18324F}"/>
              </a:ext>
            </a:extLst>
          </p:cNvPr>
          <p:cNvSpPr txBox="1"/>
          <p:nvPr/>
        </p:nvSpPr>
        <p:spPr>
          <a:xfrm>
            <a:off x="569361" y="1132521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E63B7-FA82-4F0F-A50F-ACCF843D6785}"/>
              </a:ext>
            </a:extLst>
          </p:cNvPr>
          <p:cNvSpPr txBox="1"/>
          <p:nvPr/>
        </p:nvSpPr>
        <p:spPr>
          <a:xfrm>
            <a:off x="1346678" y="159898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4FD7AC-0E1D-4840-A1D0-523321903488}"/>
              </a:ext>
            </a:extLst>
          </p:cNvPr>
          <p:cNvSpPr txBox="1"/>
          <p:nvPr/>
        </p:nvSpPr>
        <p:spPr>
          <a:xfrm>
            <a:off x="1527621" y="1817823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FF3F4-06C6-4802-A021-8DE22F316A5D}"/>
              </a:ext>
            </a:extLst>
          </p:cNvPr>
          <p:cNvSpPr txBox="1"/>
          <p:nvPr/>
        </p:nvSpPr>
        <p:spPr>
          <a:xfrm>
            <a:off x="546302" y="1844790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EFB24-267E-49A9-9CD8-40AAD7C5C656}"/>
              </a:ext>
            </a:extLst>
          </p:cNvPr>
          <p:cNvSpPr txBox="1"/>
          <p:nvPr/>
        </p:nvSpPr>
        <p:spPr>
          <a:xfrm>
            <a:off x="1544396" y="1136868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6F8DBE-B63A-4428-B253-4111B273CAAC}"/>
              </a:ext>
            </a:extLst>
          </p:cNvPr>
          <p:cNvSpPr txBox="1"/>
          <p:nvPr/>
        </p:nvSpPr>
        <p:spPr>
          <a:xfrm>
            <a:off x="2262718" y="1633157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2CC5D-52EA-41A7-9340-AA06C6F67583}"/>
              </a:ext>
            </a:extLst>
          </p:cNvPr>
          <p:cNvSpPr txBox="1"/>
          <p:nvPr/>
        </p:nvSpPr>
        <p:spPr>
          <a:xfrm>
            <a:off x="1329558" y="2300993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AFDC15-DDCA-4E1A-8244-348A33932B23}"/>
              </a:ext>
            </a:extLst>
          </p:cNvPr>
          <p:cNvSpPr txBox="1"/>
          <p:nvPr/>
        </p:nvSpPr>
        <p:spPr>
          <a:xfrm>
            <a:off x="2248311" y="2310505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6A6B34-CE93-445C-82C2-ED5D30FB4602}"/>
              </a:ext>
            </a:extLst>
          </p:cNvPr>
          <p:cNvGrpSpPr/>
          <p:nvPr/>
        </p:nvGrpSpPr>
        <p:grpSpPr>
          <a:xfrm>
            <a:off x="2568025" y="2574763"/>
            <a:ext cx="1204957" cy="691907"/>
            <a:chOff x="2568025" y="2574763"/>
            <a:chExt cx="1204957" cy="69190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7CF337-5B63-4FF3-AC17-F176A1A8157A}"/>
                </a:ext>
              </a:extLst>
            </p:cNvPr>
            <p:cNvSpPr txBox="1"/>
            <p:nvPr/>
          </p:nvSpPr>
          <p:spPr>
            <a:xfrm>
              <a:off x="2754270" y="2574763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ethnic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EF312E-9E05-49A8-8917-A28AF961A93C}"/>
                </a:ext>
              </a:extLst>
            </p:cNvPr>
            <p:cNvSpPr txBox="1"/>
            <p:nvPr/>
          </p:nvSpPr>
          <p:spPr>
            <a:xfrm>
              <a:off x="2772297" y="2839094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value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8B7946-CAD8-4300-9953-9B58072AAE9E}"/>
                </a:ext>
              </a:extLst>
            </p:cNvPr>
            <p:cNvSpPr txBox="1"/>
            <p:nvPr/>
          </p:nvSpPr>
          <p:spPr>
            <a:xfrm>
              <a:off x="2577038" y="2897338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~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8768B1-4F46-49C6-B505-B9F15B3E533E}"/>
                </a:ext>
              </a:extLst>
            </p:cNvPr>
            <p:cNvSpPr txBox="1"/>
            <p:nvPr/>
          </p:nvSpPr>
          <p:spPr>
            <a:xfrm>
              <a:off x="2568025" y="2631993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*</a:t>
              </a:r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AAEE5B5-D6AA-463D-AFCF-7EFC5253EC6B}"/>
              </a:ext>
            </a:extLst>
          </p:cNvPr>
          <p:cNvSpPr txBox="1"/>
          <p:nvPr/>
        </p:nvSpPr>
        <p:spPr>
          <a:xfrm>
            <a:off x="2507958" y="1136868"/>
            <a:ext cx="1361442" cy="142252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Value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4AD98-8EB2-4FE7-8BB8-3834A7C1786E}"/>
              </a:ext>
            </a:extLst>
          </p:cNvPr>
          <p:cNvSpPr txBox="1"/>
          <p:nvPr/>
        </p:nvSpPr>
        <p:spPr>
          <a:xfrm>
            <a:off x="587388" y="2543274"/>
            <a:ext cx="1927123" cy="1114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 err="1"/>
              <a:t>Ethnic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8F19D8-E11F-465E-8D90-B70C2E5E5AAB}"/>
              </a:ext>
            </a:extLst>
          </p:cNvPr>
          <p:cNvSpPr txBox="1"/>
          <p:nvPr/>
        </p:nvSpPr>
        <p:spPr>
          <a:xfrm>
            <a:off x="236081" y="288873"/>
            <a:ext cx="380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Theoretical</a:t>
            </a:r>
            <a:r>
              <a:rPr lang="it-IT" dirty="0"/>
              <a:t> model and </a:t>
            </a:r>
            <a:r>
              <a:rPr lang="it-IT" dirty="0" err="1"/>
              <a:t>types</a:t>
            </a:r>
            <a:r>
              <a:rPr lang="it-IT" dirty="0"/>
              <a:t> of agents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DCF248-6DFB-4D84-A65C-2B1204D32249}"/>
                  </a:ext>
                </a:extLst>
              </p:cNvPr>
              <p:cNvSpPr txBox="1"/>
              <p:nvPr/>
            </p:nvSpPr>
            <p:spPr>
              <a:xfrm>
                <a:off x="940445" y="4175080"/>
                <a:ext cx="1865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DCF248-6DFB-4D84-A65C-2B1204D3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45" y="4175080"/>
                <a:ext cx="1865062" cy="276999"/>
              </a:xfrm>
              <a:prstGeom prst="rect">
                <a:avLst/>
              </a:prstGeom>
              <a:blipFill>
                <a:blip r:embed="rId2"/>
                <a:stretch>
                  <a:fillRect l="-2288" r="-98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3AD9F6-D33B-4D6E-9CAC-41151DD872FC}"/>
                  </a:ext>
                </a:extLst>
              </p:cNvPr>
              <p:cNvSpPr txBox="1"/>
              <p:nvPr/>
            </p:nvSpPr>
            <p:spPr>
              <a:xfrm>
                <a:off x="772325" y="5114803"/>
                <a:ext cx="2529282" cy="607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sup>
                                </m:sSubSup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sup>
                            </m:sSub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bSup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p>
                            </m:sSub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unc>
                              <m:func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sup>
                                    </m:sSubSup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sup>
                                </m:sSub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p>
                                    </m:sSubSup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b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3AD9F6-D33B-4D6E-9CAC-41151DD87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5" y="5114803"/>
                <a:ext cx="2529282" cy="607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4B5FEFC-C290-49EA-9CE6-7D55744F2C0F}"/>
              </a:ext>
            </a:extLst>
          </p:cNvPr>
          <p:cNvSpPr txBox="1"/>
          <p:nvPr/>
        </p:nvSpPr>
        <p:spPr>
          <a:xfrm>
            <a:off x="139959" y="4599536"/>
            <a:ext cx="4264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Neighborhood</a:t>
            </a:r>
            <a:r>
              <a:rPr lang="it-IT" sz="1600" dirty="0"/>
              <a:t> utility </a:t>
            </a:r>
            <a:r>
              <a:rPr lang="it-IT" sz="1600" dirty="0" err="1"/>
              <a:t>computation</a:t>
            </a:r>
            <a:r>
              <a:rPr lang="it-IT" sz="1600" dirty="0"/>
              <a:t> for </a:t>
            </a:r>
            <a:r>
              <a:rPr lang="it-IT" sz="1600" dirty="0" err="1"/>
              <a:t>all</a:t>
            </a:r>
            <a:r>
              <a:rPr lang="it-IT" sz="1600" dirty="0"/>
              <a:t> agents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6E0202-5293-4D76-9248-32500806B066}"/>
              </a:ext>
            </a:extLst>
          </p:cNvPr>
          <p:cNvSpPr txBox="1"/>
          <p:nvPr/>
        </p:nvSpPr>
        <p:spPr>
          <a:xfrm>
            <a:off x="236081" y="5816825"/>
            <a:ext cx="4167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Probability</a:t>
            </a:r>
            <a:r>
              <a:rPr lang="it-IT" sz="1600" dirty="0"/>
              <a:t> of agent </a:t>
            </a:r>
            <a:r>
              <a:rPr lang="it-IT" sz="1600" i="1" dirty="0"/>
              <a:t>j</a:t>
            </a:r>
            <a:r>
              <a:rPr lang="it-IT" sz="1600" dirty="0"/>
              <a:t> to </a:t>
            </a:r>
            <a:r>
              <a:rPr lang="it-IT" sz="1600" dirty="0" err="1"/>
              <a:t>move</a:t>
            </a:r>
            <a:r>
              <a:rPr lang="it-IT" sz="1600" dirty="0"/>
              <a:t> to </a:t>
            </a:r>
            <a:r>
              <a:rPr lang="it-IT" sz="1600" dirty="0" err="1"/>
              <a:t>neighborhood</a:t>
            </a:r>
            <a:r>
              <a:rPr lang="it-IT" sz="1600" dirty="0"/>
              <a:t> </a:t>
            </a:r>
            <a:r>
              <a:rPr lang="it-IT" sz="1600" i="1" dirty="0"/>
              <a:t>i</a:t>
            </a:r>
            <a:endParaRPr lang="en-US" sz="1600" i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317F03-2D28-472E-B210-9B0DE514F7FA}"/>
              </a:ext>
            </a:extLst>
          </p:cNvPr>
          <p:cNvSpPr/>
          <p:nvPr/>
        </p:nvSpPr>
        <p:spPr>
          <a:xfrm>
            <a:off x="5389047" y="126672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How </a:t>
            </a:r>
            <a:r>
              <a:rPr lang="it-IT" dirty="0" err="1"/>
              <a:t>scenarios</a:t>
            </a:r>
            <a:r>
              <a:rPr lang="it-IT" dirty="0"/>
              <a:t> of </a:t>
            </a:r>
            <a:r>
              <a:rPr lang="it-IT" dirty="0" err="1"/>
              <a:t>hybrid</a:t>
            </a:r>
            <a:r>
              <a:rPr lang="it-IT" dirty="0"/>
              <a:t> </a:t>
            </a:r>
            <a:r>
              <a:rPr lang="it-IT" dirty="0" err="1"/>
              <a:t>segregation</a:t>
            </a:r>
            <a:r>
              <a:rPr lang="it-IT" dirty="0"/>
              <a:t> in </a:t>
            </a:r>
            <a:r>
              <a:rPr lang="it-IT" dirty="0" err="1"/>
              <a:t>modern</a:t>
            </a:r>
            <a:r>
              <a:rPr lang="it-IT" dirty="0"/>
              <a:t> societies, i.e. people of the </a:t>
            </a:r>
            <a:r>
              <a:rPr lang="it-IT" dirty="0" err="1"/>
              <a:t>same</a:t>
            </a:r>
            <a:r>
              <a:rPr lang="it-IT" dirty="0"/>
              <a:t> group are </a:t>
            </a:r>
            <a:r>
              <a:rPr lang="it-IT" dirty="0" err="1"/>
              <a:t>integrated</a:t>
            </a:r>
            <a:r>
              <a:rPr lang="it-IT" dirty="0"/>
              <a:t>, </a:t>
            </a:r>
            <a:r>
              <a:rPr lang="it-IT" dirty="0" err="1"/>
              <a:t>others</a:t>
            </a:r>
            <a:r>
              <a:rPr lang="it-IT" dirty="0"/>
              <a:t> are </a:t>
            </a:r>
            <a:r>
              <a:rPr lang="it-IT" dirty="0" err="1"/>
              <a:t>not</a:t>
            </a:r>
            <a:r>
              <a:rPr lang="it-IT" dirty="0"/>
              <a:t>, can be </a:t>
            </a:r>
            <a:r>
              <a:rPr lang="it-IT" dirty="0" err="1"/>
              <a:t>explained</a:t>
            </a:r>
            <a:r>
              <a:rPr lang="it-IT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Mechanism</a:t>
            </a:r>
            <a:r>
              <a:rPr lang="it-IT" dirty="0"/>
              <a:t>: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sorting</a:t>
            </a:r>
            <a:r>
              <a:rPr lang="it-IT" dirty="0"/>
              <a:t> with discrete </a:t>
            </a:r>
            <a:r>
              <a:rPr lang="it-IT" dirty="0" err="1"/>
              <a:t>choice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Focus of the model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preferences</a:t>
            </a:r>
            <a:r>
              <a:rPr lang="it-IT" dirty="0"/>
              <a:t>: </a:t>
            </a:r>
            <a:r>
              <a:rPr lang="it-IT" dirty="0" err="1"/>
              <a:t>values</a:t>
            </a:r>
            <a:r>
              <a:rPr lang="it-IT" dirty="0"/>
              <a:t> and </a:t>
            </a:r>
            <a:r>
              <a:rPr lang="it-IT" dirty="0" err="1"/>
              <a:t>ethnicity</a:t>
            </a: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Heterogeneity</a:t>
            </a:r>
            <a:r>
              <a:rPr lang="it-IT" dirty="0"/>
              <a:t> in </a:t>
            </a:r>
            <a:r>
              <a:rPr lang="it-IT" dirty="0" err="1"/>
              <a:t>ethnic</a:t>
            </a:r>
            <a:r>
              <a:rPr lang="it-IT" dirty="0"/>
              <a:t> and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preferences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group and </a:t>
            </a:r>
            <a:r>
              <a:rPr lang="it-IT" dirty="0" err="1"/>
              <a:t>between</a:t>
            </a:r>
            <a:r>
              <a:rPr lang="it-IT" dirty="0"/>
              <a:t>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Relative group sizes</a:t>
            </a:r>
          </a:p>
          <a:p>
            <a:pPr lvl="1"/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phenomena</a:t>
            </a:r>
            <a:r>
              <a:rPr lang="it-IT" dirty="0"/>
              <a:t>: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it-IT" dirty="0"/>
              <a:t>Global </a:t>
            </a:r>
            <a:r>
              <a:rPr lang="it-IT" dirty="0" err="1"/>
              <a:t>ethnic</a:t>
            </a:r>
            <a:r>
              <a:rPr lang="it-IT" dirty="0"/>
              <a:t> and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segregation</a:t>
            </a:r>
            <a:endParaRPr lang="it-IT" dirty="0"/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it-IT" dirty="0" err="1"/>
              <a:t>Ethnic</a:t>
            </a:r>
            <a:r>
              <a:rPr lang="it-IT" dirty="0"/>
              <a:t> and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segregation</a:t>
            </a:r>
            <a:r>
              <a:rPr lang="it-IT" dirty="0"/>
              <a:t> for 4 </a:t>
            </a:r>
            <a:r>
              <a:rPr lang="it-IT" dirty="0" err="1"/>
              <a:t>types</a:t>
            </a:r>
            <a:r>
              <a:rPr lang="it-IT" dirty="0"/>
              <a:t> of agents</a:t>
            </a:r>
          </a:p>
        </p:txBody>
      </p:sp>
    </p:spTree>
    <p:extLst>
      <p:ext uri="{BB962C8B-B14F-4D97-AF65-F5344CB8AC3E}">
        <p14:creationId xmlns:p14="http://schemas.microsoft.com/office/powerpoint/2010/main" val="13321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E94328-3A6E-41AF-8862-20526BCBF7B4}"/>
                  </a:ext>
                </a:extLst>
              </p:cNvPr>
              <p:cNvSpPr txBox="1"/>
              <p:nvPr/>
            </p:nvSpPr>
            <p:spPr>
              <a:xfrm>
                <a:off x="276428" y="572548"/>
                <a:ext cx="5922904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69875" lvl="1" indent="-269875">
                  <a:buFont typeface="Arial" panose="020B0604020202020204" pitchFamily="34" charset="0"/>
                  <a:buChar char="•"/>
                </a:pPr>
                <a:r>
                  <a:rPr lang="it-IT" dirty="0" err="1"/>
                  <a:t>Scenarios</a:t>
                </a:r>
                <a:r>
                  <a:rPr lang="it-IT" dirty="0"/>
                  <a:t> (focus on </a:t>
                </a:r>
                <a:r>
                  <a:rPr lang="it-IT" dirty="0" err="1"/>
                  <a:t>heterogeneity</a:t>
                </a:r>
                <a:r>
                  <a:rPr lang="it-IT" dirty="0"/>
                  <a:t>):</a:t>
                </a:r>
              </a:p>
              <a:p>
                <a:pPr marL="269875" lvl="1" indent="-269875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r>
                  <a:rPr lang="it-IT" dirty="0" err="1"/>
                  <a:t>Both</a:t>
                </a:r>
                <a:r>
                  <a:rPr lang="it-IT" dirty="0"/>
                  <a:t> </a:t>
                </a:r>
                <a:r>
                  <a:rPr lang="it-IT" dirty="0" err="1"/>
                  <a:t>tolerant</a:t>
                </a:r>
                <a:r>
                  <a:rPr lang="it-IT" dirty="0"/>
                  <a:t> </a:t>
                </a:r>
                <a:r>
                  <a:rPr lang="it-IT" dirty="0" err="1"/>
                  <a:t>value-oriented</a:t>
                </a:r>
                <a:r>
                  <a:rPr lang="it-IT" dirty="0"/>
                  <a:t> agents and </a:t>
                </a:r>
                <a:r>
                  <a:rPr lang="it-IT" dirty="0" err="1"/>
                  <a:t>intolerant</a:t>
                </a:r>
                <a:r>
                  <a:rPr lang="it-IT" dirty="0"/>
                  <a:t> </a:t>
                </a:r>
                <a:r>
                  <a:rPr lang="it-IT" dirty="0" err="1"/>
                  <a:t>ethnicity-oriented</a:t>
                </a:r>
                <a:r>
                  <a:rPr lang="it-IT" dirty="0"/>
                  <a:t> agents </a:t>
                </a:r>
                <a:r>
                  <a:rPr lang="it-IT" dirty="0" err="1"/>
                  <a:t>hold</a:t>
                </a:r>
                <a:r>
                  <a:rPr lang="it-IT" dirty="0"/>
                  <a:t> </a:t>
                </a:r>
                <a:r>
                  <a:rPr lang="it-IT" dirty="0" err="1"/>
                  <a:t>ethnic</a:t>
                </a:r>
                <a:r>
                  <a:rPr lang="it-IT" dirty="0"/>
                  <a:t> and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it-IT" dirty="0"/>
                  <a:t>, keeping linear utility </a:t>
                </a:r>
                <a:r>
                  <a:rPr lang="it-IT" dirty="0" err="1"/>
                  <a:t>function</a:t>
                </a:r>
                <a:r>
                  <a:rPr lang="it-IT" dirty="0"/>
                  <a:t>)</a:t>
                </a:r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r>
                  <a:rPr lang="it-IT" dirty="0" err="1"/>
                  <a:t>Tolerant</a:t>
                </a:r>
                <a:r>
                  <a:rPr lang="it-IT" dirty="0"/>
                  <a:t> agents </a:t>
                </a:r>
                <a:r>
                  <a:rPr lang="it-IT" dirty="0" err="1"/>
                  <a:t>hold</a:t>
                </a:r>
                <a:r>
                  <a:rPr lang="it-IT" dirty="0"/>
                  <a:t> </a:t>
                </a:r>
                <a:r>
                  <a:rPr lang="it-IT" dirty="0" err="1"/>
                  <a:t>higher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</a:t>
                </a:r>
                <a:r>
                  <a:rPr lang="it-IT" dirty="0" err="1"/>
                  <a:t>than</a:t>
                </a:r>
                <a:r>
                  <a:rPr lang="it-IT" dirty="0"/>
                  <a:t> </a:t>
                </a:r>
                <a:r>
                  <a:rPr lang="it-IT" dirty="0" err="1"/>
                  <a:t>ethnic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r>
                  <a:rPr lang="it-IT" dirty="0" err="1"/>
                  <a:t>Intolerant</a:t>
                </a:r>
                <a:r>
                  <a:rPr lang="it-IT" dirty="0"/>
                  <a:t> agents </a:t>
                </a:r>
                <a:r>
                  <a:rPr lang="it-IT" dirty="0" err="1"/>
                  <a:t>hold</a:t>
                </a:r>
                <a:r>
                  <a:rPr lang="it-IT" dirty="0"/>
                  <a:t> </a:t>
                </a:r>
                <a:r>
                  <a:rPr lang="it-IT" dirty="0" err="1"/>
                  <a:t>higher</a:t>
                </a:r>
                <a:r>
                  <a:rPr lang="it-IT" dirty="0"/>
                  <a:t> </a:t>
                </a:r>
                <a:r>
                  <a:rPr lang="it-IT" dirty="0" err="1"/>
                  <a:t>ethnic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</a:t>
                </a:r>
                <a:r>
                  <a:rPr lang="it-IT" dirty="0" err="1"/>
                  <a:t>than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r>
                  <a:rPr lang="it-IT" dirty="0" err="1"/>
                  <a:t>Ethnic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of </a:t>
                </a:r>
                <a:r>
                  <a:rPr lang="it-IT" dirty="0" err="1"/>
                  <a:t>intolerant</a:t>
                </a:r>
                <a:r>
                  <a:rPr lang="it-IT" dirty="0"/>
                  <a:t> agents are </a:t>
                </a:r>
                <a:r>
                  <a:rPr lang="it-IT" dirty="0" err="1"/>
                  <a:t>higher</a:t>
                </a:r>
                <a:r>
                  <a:rPr lang="it-IT" dirty="0"/>
                  <a:t> </a:t>
                </a:r>
                <a:r>
                  <a:rPr lang="it-IT" dirty="0" err="1"/>
                  <a:t>than</a:t>
                </a:r>
                <a:r>
                  <a:rPr lang="it-IT" dirty="0"/>
                  <a:t> </a:t>
                </a:r>
                <a:r>
                  <a:rPr lang="it-IT" dirty="0" err="1"/>
                  <a:t>ethnic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of </a:t>
                </a:r>
                <a:r>
                  <a:rPr lang="it-IT" dirty="0" err="1"/>
                  <a:t>tolerant</a:t>
                </a:r>
                <a:r>
                  <a:rPr lang="it-IT" dirty="0"/>
                  <a:t> agents</a:t>
                </a:r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727075" lvl="2" indent="-269875">
                  <a:buFont typeface="Arial" panose="020B0604020202020204" pitchFamily="34" charset="0"/>
                  <a:buChar char="•"/>
                </a:pPr>
                <a:r>
                  <a:rPr lang="it-IT" dirty="0"/>
                  <a:t>Value </a:t>
                </a:r>
                <a:r>
                  <a:rPr lang="it-IT" dirty="0" err="1"/>
                  <a:t>preferences</a:t>
                </a:r>
                <a:r>
                  <a:rPr lang="it-IT" dirty="0"/>
                  <a:t> of </a:t>
                </a:r>
                <a:r>
                  <a:rPr lang="it-IT" dirty="0" err="1"/>
                  <a:t>tolerant</a:t>
                </a:r>
                <a:r>
                  <a:rPr lang="it-IT" dirty="0"/>
                  <a:t> agents are </a:t>
                </a:r>
                <a:r>
                  <a:rPr lang="it-IT" dirty="0" err="1"/>
                  <a:t>higher</a:t>
                </a:r>
                <a:r>
                  <a:rPr lang="it-IT" dirty="0"/>
                  <a:t> </a:t>
                </a:r>
                <a:r>
                  <a:rPr lang="it-IT" dirty="0" err="1"/>
                  <a:t>than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preferences</a:t>
                </a:r>
                <a:r>
                  <a:rPr lang="it-IT" dirty="0"/>
                  <a:t> of </a:t>
                </a:r>
                <a:r>
                  <a:rPr lang="it-IT" dirty="0" err="1"/>
                  <a:t>intolerant</a:t>
                </a:r>
                <a:r>
                  <a:rPr lang="it-IT" dirty="0"/>
                  <a:t> agents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E94328-3A6E-41AF-8862-20526BCBF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28" y="572548"/>
                <a:ext cx="5922904" cy="5355312"/>
              </a:xfrm>
              <a:prstGeom prst="rect">
                <a:avLst/>
              </a:prstGeom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2CE965-8DBE-401B-B942-295F1597D7DB}"/>
              </a:ext>
            </a:extLst>
          </p:cNvPr>
          <p:cNvCxnSpPr>
            <a:cxnSpLocks/>
          </p:cNvCxnSpPr>
          <p:nvPr/>
        </p:nvCxnSpPr>
        <p:spPr>
          <a:xfrm>
            <a:off x="8508166" y="1488883"/>
            <a:ext cx="0" cy="3800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0139820-DB28-4C39-8A90-7EA11F2E05DC}"/>
              </a:ext>
            </a:extLst>
          </p:cNvPr>
          <p:cNvSpPr txBox="1"/>
          <p:nvPr/>
        </p:nvSpPr>
        <p:spPr>
          <a:xfrm>
            <a:off x="8524384" y="1628318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 ≥ </a:t>
            </a:r>
            <a:r>
              <a:rPr lang="el-GR" dirty="0"/>
              <a:t>β</a:t>
            </a:r>
            <a:r>
              <a:rPr lang="it-IT" dirty="0"/>
              <a:t>v□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59A46-C6A2-4B45-BEFD-E50E31DB9036}"/>
              </a:ext>
            </a:extLst>
          </p:cNvPr>
          <p:cNvSpPr txBox="1"/>
          <p:nvPr/>
        </p:nvSpPr>
        <p:spPr>
          <a:xfrm>
            <a:off x="9899228" y="1633337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v○ ≥ </a:t>
            </a:r>
            <a:r>
              <a:rPr lang="el-GR" dirty="0"/>
              <a:t>β</a:t>
            </a:r>
            <a:r>
              <a:rPr lang="it-IT" dirty="0"/>
              <a:t>e○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8F7AA-A751-4E63-B82D-2686A1AB430A}"/>
              </a:ext>
            </a:extLst>
          </p:cNvPr>
          <p:cNvSpPr txBox="1"/>
          <p:nvPr/>
        </p:nvSpPr>
        <p:spPr>
          <a:xfrm>
            <a:off x="9701435" y="1628318"/>
            <a:ext cx="3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B9E6F-E07C-4E0F-9FBF-0BD24F9E018F}"/>
              </a:ext>
            </a:extLst>
          </p:cNvPr>
          <p:cNvSpPr txBox="1"/>
          <p:nvPr/>
        </p:nvSpPr>
        <p:spPr>
          <a:xfrm>
            <a:off x="7745649" y="983095"/>
            <a:ext cx="152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Heterogeneity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07129-8A0C-42F5-874B-136F894EC393}"/>
              </a:ext>
            </a:extLst>
          </p:cNvPr>
          <p:cNvSpPr txBox="1"/>
          <p:nvPr/>
        </p:nvSpPr>
        <p:spPr>
          <a:xfrm>
            <a:off x="7265546" y="1602263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Individual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743E57-B53B-4D72-A4F9-4B6657B530C4}"/>
              </a:ext>
            </a:extLst>
          </p:cNvPr>
          <p:cNvSpPr txBox="1"/>
          <p:nvPr/>
        </p:nvSpPr>
        <p:spPr>
          <a:xfrm>
            <a:off x="7018380" y="2460145"/>
            <a:ext cx="14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Within</a:t>
            </a:r>
            <a:r>
              <a:rPr lang="it-IT" dirty="0"/>
              <a:t> group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13BC6-4D34-4DCC-B65C-1C759B479D6F}"/>
              </a:ext>
            </a:extLst>
          </p:cNvPr>
          <p:cNvSpPr txBox="1"/>
          <p:nvPr/>
        </p:nvSpPr>
        <p:spPr>
          <a:xfrm>
            <a:off x="8564101" y="2273541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4905A7-504B-4818-9730-E53263C9F017}"/>
              </a:ext>
            </a:extLst>
          </p:cNvPr>
          <p:cNvSpPr txBox="1"/>
          <p:nvPr/>
        </p:nvSpPr>
        <p:spPr>
          <a:xfrm>
            <a:off x="8559251" y="2644811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0D737-A871-4511-8A95-400C58DFBC8A}"/>
              </a:ext>
            </a:extLst>
          </p:cNvPr>
          <p:cNvSpPr txBox="1"/>
          <p:nvPr/>
        </p:nvSpPr>
        <p:spPr>
          <a:xfrm>
            <a:off x="10019204" y="2239974"/>
            <a:ext cx="168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5E608-639A-41E7-A967-DDAC713DC8FE}"/>
              </a:ext>
            </a:extLst>
          </p:cNvPr>
          <p:cNvSpPr txBox="1"/>
          <p:nvPr/>
        </p:nvSpPr>
        <p:spPr>
          <a:xfrm>
            <a:off x="10043508" y="2609306"/>
            <a:ext cx="166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9DA30E-E64A-4367-84DF-C3AA1B2030DE}"/>
              </a:ext>
            </a:extLst>
          </p:cNvPr>
          <p:cNvSpPr txBox="1"/>
          <p:nvPr/>
        </p:nvSpPr>
        <p:spPr>
          <a:xfrm>
            <a:off x="6818070" y="3346658"/>
            <a:ext cx="1727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Between</a:t>
            </a:r>
            <a:r>
              <a:rPr lang="it-IT" dirty="0"/>
              <a:t> group?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A3567-2BC2-4E4A-BA2E-7416A2FDD6C0}"/>
              </a:ext>
            </a:extLst>
          </p:cNvPr>
          <p:cNvSpPr/>
          <p:nvPr/>
        </p:nvSpPr>
        <p:spPr>
          <a:xfrm>
            <a:off x="6503437" y="335902"/>
            <a:ext cx="5412135" cy="6232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7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9006DE-B143-40D0-B5E4-C35D4C738BD6}"/>
              </a:ext>
            </a:extLst>
          </p:cNvPr>
          <p:cNvSpPr txBox="1"/>
          <p:nvPr/>
        </p:nvSpPr>
        <p:spPr>
          <a:xfrm>
            <a:off x="868241" y="914400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F7D26-0D84-464A-A5D2-8A3341C05F64}"/>
              </a:ext>
            </a:extLst>
          </p:cNvPr>
          <p:cNvSpPr txBox="1"/>
          <p:nvPr/>
        </p:nvSpPr>
        <p:spPr>
          <a:xfrm>
            <a:off x="6210561" y="5644167"/>
            <a:ext cx="6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e○</a:t>
            </a:r>
            <a:endParaRPr 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247BDA94-53D9-4F0C-9B33-16B758359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390330"/>
              </p:ext>
            </p:extLst>
          </p:nvPr>
        </p:nvGraphicFramePr>
        <p:xfrm>
          <a:off x="2050422" y="914400"/>
          <a:ext cx="4380981" cy="417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271">
                  <a:extLst>
                    <a:ext uri="{9D8B030D-6E8A-4147-A177-3AD203B41FA5}">
                      <a16:colId xmlns:a16="http://schemas.microsoft.com/office/drawing/2014/main" val="12255012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851300696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330906987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79989458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664511089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79467285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1889711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53966078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482313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299576594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429993053"/>
                    </a:ext>
                  </a:extLst>
                </a:gridCol>
              </a:tblGrid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0065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160019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0636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570827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62277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5237350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1864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55140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8035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766073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107536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1ED0EA70-076B-48FE-8E67-00D084F09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873898"/>
              </p:ext>
            </p:extLst>
          </p:nvPr>
        </p:nvGraphicFramePr>
        <p:xfrm>
          <a:off x="1588349" y="914400"/>
          <a:ext cx="452349" cy="418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49">
                  <a:extLst>
                    <a:ext uri="{9D8B030D-6E8A-4147-A177-3AD203B41FA5}">
                      <a16:colId xmlns:a16="http://schemas.microsoft.com/office/drawing/2014/main" val="3308013798"/>
                    </a:ext>
                  </a:extLst>
                </a:gridCol>
              </a:tblGrid>
              <a:tr h="3754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9634935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649105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4412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29349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8658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34572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68159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313673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37167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678080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608242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6BE966D0-785F-4DBB-920A-5BDFE45D0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03256"/>
              </p:ext>
            </p:extLst>
          </p:nvPr>
        </p:nvGraphicFramePr>
        <p:xfrm>
          <a:off x="2040696" y="5096445"/>
          <a:ext cx="43907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55">
                  <a:extLst>
                    <a:ext uri="{9D8B030D-6E8A-4147-A177-3AD203B41FA5}">
                      <a16:colId xmlns:a16="http://schemas.microsoft.com/office/drawing/2014/main" val="1695629604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75842218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65800155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91699361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066187747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88148717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1781361406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26206653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59569645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19725768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2274748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03445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CDD8B7-E27F-42C5-95D7-EA7975283F2A}"/>
              </a:ext>
            </a:extLst>
          </p:cNvPr>
          <p:cNvCxnSpPr>
            <a:cxnSpLocks/>
          </p:cNvCxnSpPr>
          <p:nvPr/>
        </p:nvCxnSpPr>
        <p:spPr>
          <a:xfrm flipH="1">
            <a:off x="1702406" y="4990756"/>
            <a:ext cx="430924" cy="39939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DA710C-28EA-4014-BC39-8B0DFB0CADDB}"/>
              </a:ext>
            </a:extLst>
          </p:cNvPr>
          <p:cNvSpPr txBox="1"/>
          <p:nvPr/>
        </p:nvSpPr>
        <p:spPr>
          <a:xfrm>
            <a:off x="589154" y="5082564"/>
            <a:ext cx="1334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Total random relocation due to group size </a:t>
            </a:r>
            <a:r>
              <a:rPr lang="it-IT" sz="1100" dirty="0" err="1"/>
              <a:t>Segregation</a:t>
            </a:r>
            <a:r>
              <a:rPr lang="it-IT" sz="1100" dirty="0"/>
              <a:t> = 0.50</a:t>
            </a:r>
            <a:endParaRPr lang="en-US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7F6827-E622-4604-9157-069BE6B1A466}"/>
              </a:ext>
            </a:extLst>
          </p:cNvPr>
          <p:cNvCxnSpPr/>
          <p:nvPr/>
        </p:nvCxnSpPr>
        <p:spPr>
          <a:xfrm>
            <a:off x="1917868" y="5555066"/>
            <a:ext cx="45755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5CFEB2-0B87-45E0-B4D4-FFB661E2850D}"/>
              </a:ext>
            </a:extLst>
          </p:cNvPr>
          <p:cNvCxnSpPr/>
          <p:nvPr/>
        </p:nvCxnSpPr>
        <p:spPr>
          <a:xfrm flipV="1">
            <a:off x="1487165" y="914400"/>
            <a:ext cx="0" cy="4168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212873-0D92-4104-B0C0-7C27969063C7}"/>
              </a:ext>
            </a:extLst>
          </p:cNvPr>
          <p:cNvSpPr txBox="1"/>
          <p:nvPr/>
        </p:nvSpPr>
        <p:spPr>
          <a:xfrm>
            <a:off x="398612" y="2304558"/>
            <a:ext cx="10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Ethnic</a:t>
            </a:r>
            <a:r>
              <a:rPr lang="it-IT" sz="1400" dirty="0"/>
              <a:t> </a:t>
            </a:r>
            <a:r>
              <a:rPr lang="it-IT" sz="1400" dirty="0" err="1"/>
              <a:t>segregation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50F411-568F-49E2-8536-50F27224CDD0}"/>
                  </a:ext>
                </a:extLst>
              </p:cNvPr>
              <p:cNvSpPr txBox="1"/>
              <p:nvPr/>
            </p:nvSpPr>
            <p:spPr>
              <a:xfrm>
                <a:off x="6816915" y="1828156"/>
                <a:ext cx="514476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This </a:t>
                </a:r>
                <a:r>
                  <a:rPr lang="it-IT" dirty="0" err="1"/>
                  <a:t>is</a:t>
                </a:r>
                <a:r>
                  <a:rPr lang="it-IT" dirty="0"/>
                  <a:t> the </a:t>
                </a:r>
                <a:r>
                  <a:rPr lang="it-IT" dirty="0" err="1"/>
                  <a:t>real</a:t>
                </a:r>
                <a:r>
                  <a:rPr lang="it-IT" dirty="0"/>
                  <a:t> baseline for </a:t>
                </a:r>
                <a:r>
                  <a:rPr lang="it-IT" dirty="0" err="1"/>
                  <a:t>ethnic</a:t>
                </a:r>
                <a:r>
                  <a:rPr lang="it-IT" dirty="0"/>
                  <a:t> </a:t>
                </a:r>
                <a:r>
                  <a:rPr lang="it-IT" dirty="0" err="1"/>
                  <a:t>segregation</a:t>
                </a:r>
                <a:r>
                  <a:rPr lang="it-IT" dirty="0"/>
                  <a:t> (with </a:t>
                </a:r>
                <a:r>
                  <a:rPr lang="it-IT" dirty="0" err="1"/>
                  <a:t>equal</a:t>
                </a:r>
                <a:r>
                  <a:rPr lang="it-IT" dirty="0"/>
                  <a:t> relative group sizes) from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other</a:t>
                </a:r>
                <a:r>
                  <a:rPr lang="it-IT" dirty="0"/>
                  <a:t> </a:t>
                </a:r>
                <a:r>
                  <a:rPr lang="it-IT" dirty="0" err="1"/>
                  <a:t>experiments</a:t>
                </a:r>
                <a:r>
                  <a:rPr lang="it-IT" dirty="0"/>
                  <a:t> </a:t>
                </a:r>
                <a:r>
                  <a:rPr lang="it-IT" dirty="0" err="1"/>
                  <a:t>should</a:t>
                </a:r>
                <a:r>
                  <a:rPr lang="it-IT" dirty="0"/>
                  <a:t> derive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1" dirty="0" err="1"/>
                  <a:t>Need</a:t>
                </a:r>
                <a:r>
                  <a:rPr lang="it-IT" b="1" dirty="0"/>
                  <a:t> to </a:t>
                </a:r>
                <a:r>
                  <a:rPr lang="it-IT" b="1" dirty="0" err="1"/>
                  <a:t>run</a:t>
                </a:r>
                <a:r>
                  <a:rPr lang="it-IT" b="1" dirty="0"/>
                  <a:t> </a:t>
                </a:r>
                <a:r>
                  <a:rPr lang="it-IT" b="1" dirty="0" err="1"/>
                  <a:t>this</a:t>
                </a:r>
                <a:r>
                  <a:rPr lang="it-IT" b="1" dirty="0"/>
                  <a:t> first </a:t>
                </a:r>
                <a:r>
                  <a:rPr lang="it-IT" b="1" dirty="0" err="1"/>
                  <a:t>anyway</a:t>
                </a:r>
                <a:r>
                  <a:rPr lang="it-IT" dirty="0"/>
                  <a:t>, to </a:t>
                </a:r>
                <a:r>
                  <a:rPr lang="it-IT" dirty="0" err="1"/>
                  <a:t>understand</a:t>
                </a:r>
                <a:r>
                  <a:rPr lang="it-IT" dirty="0"/>
                  <a:t> </a:t>
                </a:r>
                <a:r>
                  <a:rPr lang="it-IT" dirty="0" err="1"/>
                  <a:t>sensitivity</a:t>
                </a:r>
                <a:r>
                  <a:rPr lang="it-IT" dirty="0"/>
                  <a:t> to </a:t>
                </a:r>
                <a:r>
                  <a:rPr lang="it-IT" dirty="0" err="1"/>
                  <a:t>change</a:t>
                </a:r>
                <a:r>
                  <a:rPr lang="it-IT" dirty="0"/>
                  <a:t> in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and orient </a:t>
                </a:r>
                <a:r>
                  <a:rPr lang="en-US"/>
                  <a:t>next steps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Assumption: results would be the same for value segregation with </a:t>
                </a:r>
                <a:r>
                  <a:rPr lang="el-GR" dirty="0"/>
                  <a:t>β</a:t>
                </a:r>
                <a:r>
                  <a:rPr lang="it-IT" dirty="0"/>
                  <a:t>v○ ≥ </a:t>
                </a:r>
                <a:r>
                  <a:rPr lang="el-GR" dirty="0"/>
                  <a:t>β</a:t>
                </a:r>
                <a:r>
                  <a:rPr lang="it-IT" dirty="0"/>
                  <a:t>e○, no </a:t>
                </a:r>
                <a:r>
                  <a:rPr lang="it-IT" dirty="0" err="1"/>
                  <a:t>need</a:t>
                </a:r>
                <a:r>
                  <a:rPr lang="it-IT" dirty="0"/>
                  <a:t> to </a:t>
                </a:r>
                <a:r>
                  <a:rPr lang="it-IT" dirty="0" err="1"/>
                  <a:t>run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,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if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𝑣𝑎𝑙𝑢𝑒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different than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50F411-568F-49E2-8536-50F27224C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915" y="1828156"/>
                <a:ext cx="5144767" cy="3139321"/>
              </a:xfrm>
              <a:prstGeom prst="rect">
                <a:avLst/>
              </a:prstGeom>
              <a:blipFill>
                <a:blip r:embed="rId2"/>
                <a:stretch>
                  <a:fillRect l="-711" t="-1165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20CC04E-67C2-4800-B326-359611508431}"/>
              </a:ext>
            </a:extLst>
          </p:cNvPr>
          <p:cNvSpPr txBox="1"/>
          <p:nvPr/>
        </p:nvSpPr>
        <p:spPr>
          <a:xfrm>
            <a:off x="4921632" y="248130"/>
            <a:ext cx="257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Experiments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78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B5B3AA-904D-4794-A734-F2FEC12E7A04}"/>
              </a:ext>
            </a:extLst>
          </p:cNvPr>
          <p:cNvCxnSpPr>
            <a:cxnSpLocks/>
          </p:cNvCxnSpPr>
          <p:nvPr/>
        </p:nvCxnSpPr>
        <p:spPr>
          <a:xfrm flipV="1">
            <a:off x="6761217" y="129817"/>
            <a:ext cx="0" cy="458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10B445-DAFB-4139-A4EB-342549C73EBA}"/>
              </a:ext>
            </a:extLst>
          </p:cNvPr>
          <p:cNvCxnSpPr/>
          <p:nvPr/>
        </p:nvCxnSpPr>
        <p:spPr>
          <a:xfrm>
            <a:off x="6761217" y="4657321"/>
            <a:ext cx="46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208CE344-3291-462F-B5BE-021424670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116693"/>
              </p:ext>
            </p:extLst>
          </p:nvPr>
        </p:nvGraphicFramePr>
        <p:xfrm>
          <a:off x="7272722" y="271563"/>
          <a:ext cx="4337265" cy="3967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755">
                  <a:extLst>
                    <a:ext uri="{9D8B030D-6E8A-4147-A177-3AD203B41FA5}">
                      <a16:colId xmlns:a16="http://schemas.microsoft.com/office/drawing/2014/main" val="286604741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88787197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2851315618"/>
                    </a:ext>
                  </a:extLst>
                </a:gridCol>
              </a:tblGrid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95378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069507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82519"/>
                  </a:ext>
                </a:extLst>
              </a:tr>
            </a:tbl>
          </a:graphicData>
        </a:graphic>
      </p:graphicFrame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C7AE576A-5F73-4EE8-8A23-B6F5489E8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20346"/>
              </p:ext>
            </p:extLst>
          </p:nvPr>
        </p:nvGraphicFramePr>
        <p:xfrm>
          <a:off x="7311263" y="376667"/>
          <a:ext cx="13313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69">
                  <a:extLst>
                    <a:ext uri="{9D8B030D-6E8A-4147-A177-3AD203B41FA5}">
                      <a16:colId xmlns:a16="http://schemas.microsoft.com/office/drawing/2014/main" val="234353607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309127525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4190305361"/>
                    </a:ext>
                  </a:extLst>
                </a:gridCol>
              </a:tblGrid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38097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704660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7443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BDADC57-F9C2-4F92-A6F0-98D2EA65112B}"/>
              </a:ext>
            </a:extLst>
          </p:cNvPr>
          <p:cNvSpPr txBox="1"/>
          <p:nvPr/>
        </p:nvSpPr>
        <p:spPr>
          <a:xfrm>
            <a:off x="6761218" y="589794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0F9D6-1FFD-49A4-A456-AD587D9C5864}"/>
              </a:ext>
            </a:extLst>
          </p:cNvPr>
          <p:cNvSpPr txBox="1"/>
          <p:nvPr/>
        </p:nvSpPr>
        <p:spPr>
          <a:xfrm>
            <a:off x="6761218" y="2045315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F964-0399-4EE4-8A43-BF7D39F6E0F2}"/>
              </a:ext>
            </a:extLst>
          </p:cNvPr>
          <p:cNvSpPr txBox="1"/>
          <p:nvPr/>
        </p:nvSpPr>
        <p:spPr>
          <a:xfrm>
            <a:off x="6743703" y="3351318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A60F4-8A92-4AE2-9A67-D3C0EDC44616}"/>
              </a:ext>
            </a:extLst>
          </p:cNvPr>
          <p:cNvSpPr txBox="1"/>
          <p:nvPr/>
        </p:nvSpPr>
        <p:spPr>
          <a:xfrm>
            <a:off x="7763206" y="4235450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CE020-D92E-49EB-B7F0-57A969E20431}"/>
              </a:ext>
            </a:extLst>
          </p:cNvPr>
          <p:cNvSpPr txBox="1"/>
          <p:nvPr/>
        </p:nvSpPr>
        <p:spPr>
          <a:xfrm>
            <a:off x="9276698" y="4263745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63E8CE-92A3-46EC-9F99-1E76D71FB784}"/>
              </a:ext>
            </a:extLst>
          </p:cNvPr>
          <p:cNvSpPr txBox="1"/>
          <p:nvPr/>
        </p:nvSpPr>
        <p:spPr>
          <a:xfrm>
            <a:off x="10728864" y="4236231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951B19-DD30-483A-A9DF-FF0C867C946D}"/>
              </a:ext>
            </a:extLst>
          </p:cNvPr>
          <p:cNvSpPr txBox="1"/>
          <p:nvPr/>
        </p:nvSpPr>
        <p:spPr>
          <a:xfrm>
            <a:off x="8372936" y="5217852"/>
            <a:ext cx="227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Local/</a:t>
            </a:r>
            <a:r>
              <a:rPr lang="it-IT" dirty="0" err="1"/>
              <a:t>minority</a:t>
            </a:r>
            <a:r>
              <a:rPr lang="it-IT" dirty="0"/>
              <a:t> 0.8/0.2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892BC3-83BA-4F8F-B4D2-77313EDD113A}"/>
              </a:ext>
            </a:extLst>
          </p:cNvPr>
          <p:cNvSpPr txBox="1"/>
          <p:nvPr/>
        </p:nvSpPr>
        <p:spPr>
          <a:xfrm>
            <a:off x="225609" y="6031561"/>
            <a:ext cx="11821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Map</a:t>
            </a:r>
            <a:r>
              <a:rPr lang="it-IT" sz="1600" dirty="0"/>
              <a:t> of relative group sizes </a:t>
            </a:r>
            <a:r>
              <a:rPr lang="it-IT" sz="1600" dirty="0" err="1"/>
              <a:t>both</a:t>
            </a:r>
            <a:r>
              <a:rPr lang="it-IT" sz="1600" dirty="0"/>
              <a:t> for </a:t>
            </a:r>
            <a:r>
              <a:rPr lang="it-IT" sz="1600" dirty="0" err="1"/>
              <a:t>ethnic</a:t>
            </a:r>
            <a:r>
              <a:rPr lang="it-IT" sz="1600" dirty="0"/>
              <a:t> </a:t>
            </a:r>
            <a:r>
              <a:rPr lang="it-IT" sz="1600" dirty="0" err="1"/>
              <a:t>composition</a:t>
            </a:r>
            <a:r>
              <a:rPr lang="it-IT" sz="1600" dirty="0"/>
              <a:t> and </a:t>
            </a:r>
            <a:r>
              <a:rPr lang="it-IT" sz="1600" dirty="0" err="1"/>
              <a:t>value</a:t>
            </a:r>
            <a:r>
              <a:rPr lang="it-IT" sz="1600" dirty="0"/>
              <a:t> </a:t>
            </a:r>
            <a:r>
              <a:rPr lang="it-IT" sz="1600" dirty="0" err="1"/>
              <a:t>composition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In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intersection</a:t>
            </a:r>
            <a:r>
              <a:rPr lang="it-IT" sz="1600" dirty="0"/>
              <a:t>, the </a:t>
            </a:r>
            <a:r>
              <a:rPr lang="it-IT" sz="1600" dirty="0" err="1"/>
              <a:t>conditions</a:t>
            </a:r>
            <a:r>
              <a:rPr lang="it-IT" sz="1600" dirty="0"/>
              <a:t> of </a:t>
            </a:r>
            <a:r>
              <a:rPr lang="it-IT" sz="1600" dirty="0" err="1"/>
              <a:t>ethnic</a:t>
            </a:r>
            <a:r>
              <a:rPr lang="it-IT" sz="1600" dirty="0"/>
              <a:t> </a:t>
            </a:r>
            <a:r>
              <a:rPr lang="it-IT" sz="1600" dirty="0" err="1"/>
              <a:t>preferences</a:t>
            </a:r>
            <a:r>
              <a:rPr lang="it-IT" sz="1600" dirty="0"/>
              <a:t> and </a:t>
            </a:r>
            <a:r>
              <a:rPr lang="it-IT" sz="1600" dirty="0" err="1"/>
              <a:t>value</a:t>
            </a:r>
            <a:r>
              <a:rPr lang="it-IT" sz="1600" dirty="0"/>
              <a:t> </a:t>
            </a:r>
            <a:r>
              <a:rPr lang="it-IT" sz="1600" dirty="0" err="1"/>
              <a:t>preferences</a:t>
            </a:r>
            <a:r>
              <a:rPr lang="it-IT" sz="1600" dirty="0"/>
              <a:t> for </a:t>
            </a:r>
            <a:r>
              <a:rPr lang="it-IT" sz="1600" dirty="0" err="1"/>
              <a:t>all</a:t>
            </a:r>
            <a:r>
              <a:rPr lang="it-IT" sz="1600" dirty="0"/>
              <a:t> 4 </a:t>
            </a:r>
            <a:r>
              <a:rPr lang="it-IT" sz="1600" dirty="0" err="1"/>
              <a:t>types</a:t>
            </a:r>
            <a:r>
              <a:rPr lang="it-IT" sz="1600" dirty="0"/>
              <a:t> of agents </a:t>
            </a:r>
            <a:r>
              <a:rPr lang="it-IT" sz="1600" dirty="0" err="1"/>
              <a:t>should</a:t>
            </a:r>
            <a:r>
              <a:rPr lang="it-IT" sz="1600" dirty="0"/>
              <a:t> </a:t>
            </a:r>
            <a:r>
              <a:rPr lang="it-IT" sz="1600" dirty="0" err="1"/>
              <a:t>occur</a:t>
            </a:r>
            <a:r>
              <a:rPr lang="it-IT" sz="1600" dirty="0"/>
              <a:t>, </a:t>
            </a:r>
            <a:r>
              <a:rPr lang="it-IT" sz="1600" b="1" dirty="0" err="1"/>
              <a:t>it</a:t>
            </a:r>
            <a:r>
              <a:rPr lang="it-IT" sz="1600" b="1" dirty="0"/>
              <a:t> </a:t>
            </a:r>
            <a:r>
              <a:rPr lang="it-IT" sz="1600" b="1" dirty="0" err="1"/>
              <a:t>is</a:t>
            </a:r>
            <a:r>
              <a:rPr lang="it-IT" sz="1600" b="1" dirty="0"/>
              <a:t> </a:t>
            </a:r>
            <a:r>
              <a:rPr lang="it-IT" sz="1600" b="1" dirty="0" err="1"/>
              <a:t>not</a:t>
            </a:r>
            <a:r>
              <a:rPr lang="it-IT" sz="1600" b="1" dirty="0"/>
              <a:t> </a:t>
            </a:r>
            <a:r>
              <a:rPr lang="it-IT" sz="1600" b="1" dirty="0" err="1"/>
              <a:t>feasible</a:t>
            </a:r>
            <a:endParaRPr lang="en-US" sz="16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7FA1A4-7361-4064-82F5-2B1F0CADA7B6}"/>
              </a:ext>
            </a:extLst>
          </p:cNvPr>
          <p:cNvCxnSpPr>
            <a:cxnSpLocks/>
          </p:cNvCxnSpPr>
          <p:nvPr/>
        </p:nvCxnSpPr>
        <p:spPr>
          <a:xfrm flipV="1">
            <a:off x="910465" y="150010"/>
            <a:ext cx="0" cy="458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33B99-8420-499B-ADBF-D424E74AC899}"/>
              </a:ext>
            </a:extLst>
          </p:cNvPr>
          <p:cNvCxnSpPr/>
          <p:nvPr/>
        </p:nvCxnSpPr>
        <p:spPr>
          <a:xfrm>
            <a:off x="910465" y="4677514"/>
            <a:ext cx="46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DB62E251-FCCA-4488-BA7F-72EBF233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33639"/>
              </p:ext>
            </p:extLst>
          </p:nvPr>
        </p:nvGraphicFramePr>
        <p:xfrm>
          <a:off x="1421970" y="291756"/>
          <a:ext cx="4337265" cy="3967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755">
                  <a:extLst>
                    <a:ext uri="{9D8B030D-6E8A-4147-A177-3AD203B41FA5}">
                      <a16:colId xmlns:a16="http://schemas.microsoft.com/office/drawing/2014/main" val="286604741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88787197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2851315618"/>
                    </a:ext>
                  </a:extLst>
                </a:gridCol>
              </a:tblGrid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95378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069507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82519"/>
                  </a:ext>
                </a:extLst>
              </a:tr>
            </a:tbl>
          </a:graphicData>
        </a:graphic>
      </p:graphicFrame>
      <p:graphicFrame>
        <p:nvGraphicFramePr>
          <p:cNvPr id="21" name="Table 12">
            <a:extLst>
              <a:ext uri="{FF2B5EF4-FFF2-40B4-BE49-F238E27FC236}">
                <a16:creationId xmlns:a16="http://schemas.microsoft.com/office/drawing/2014/main" id="{84679417-4BC0-4B15-B75B-C12592432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28661"/>
              </p:ext>
            </p:extLst>
          </p:nvPr>
        </p:nvGraphicFramePr>
        <p:xfrm>
          <a:off x="1460511" y="396860"/>
          <a:ext cx="13313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69">
                  <a:extLst>
                    <a:ext uri="{9D8B030D-6E8A-4147-A177-3AD203B41FA5}">
                      <a16:colId xmlns:a16="http://schemas.microsoft.com/office/drawing/2014/main" val="234353607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309127525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4190305361"/>
                    </a:ext>
                  </a:extLst>
                </a:gridCol>
              </a:tblGrid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38097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704660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74439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48F592E-985A-489A-B9C5-81B85E44B1E7}"/>
              </a:ext>
            </a:extLst>
          </p:cNvPr>
          <p:cNvSpPr txBox="1"/>
          <p:nvPr/>
        </p:nvSpPr>
        <p:spPr>
          <a:xfrm>
            <a:off x="174742" y="415253"/>
            <a:ext cx="8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Intolernat</a:t>
            </a:r>
            <a:r>
              <a:rPr lang="it-IT" sz="1200" dirty="0"/>
              <a:t>/</a:t>
            </a:r>
            <a:r>
              <a:rPr lang="it-IT" sz="1200" dirty="0" err="1"/>
              <a:t>tolerant</a:t>
            </a:r>
            <a:endParaRPr lang="it-IT" sz="1050" dirty="0"/>
          </a:p>
          <a:p>
            <a:r>
              <a:rPr lang="it-IT" sz="1200" dirty="0" err="1"/>
              <a:t>minority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0E1C6C-E8DA-42F7-B100-0631C3077A02}"/>
              </a:ext>
            </a:extLst>
          </p:cNvPr>
          <p:cNvSpPr txBox="1"/>
          <p:nvPr/>
        </p:nvSpPr>
        <p:spPr>
          <a:xfrm>
            <a:off x="910466" y="609987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B4443-CC3C-4EE6-98A3-F542C77EEC36}"/>
              </a:ext>
            </a:extLst>
          </p:cNvPr>
          <p:cNvSpPr txBox="1"/>
          <p:nvPr/>
        </p:nvSpPr>
        <p:spPr>
          <a:xfrm>
            <a:off x="910466" y="2065508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526E1-A701-4634-A1D9-6DAF21099C96}"/>
              </a:ext>
            </a:extLst>
          </p:cNvPr>
          <p:cNvSpPr txBox="1"/>
          <p:nvPr/>
        </p:nvSpPr>
        <p:spPr>
          <a:xfrm>
            <a:off x="892951" y="3371511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9CC7EA-6186-4E0C-A4B8-074EF0DA13E2}"/>
              </a:ext>
            </a:extLst>
          </p:cNvPr>
          <p:cNvSpPr txBox="1"/>
          <p:nvPr/>
        </p:nvSpPr>
        <p:spPr>
          <a:xfrm>
            <a:off x="1912454" y="4255643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17E467-999B-4744-99B1-DFA6F49C734F}"/>
              </a:ext>
            </a:extLst>
          </p:cNvPr>
          <p:cNvSpPr txBox="1"/>
          <p:nvPr/>
        </p:nvSpPr>
        <p:spPr>
          <a:xfrm>
            <a:off x="3425946" y="4283938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CC36C-3B99-4927-8434-F399A09E7463}"/>
              </a:ext>
            </a:extLst>
          </p:cNvPr>
          <p:cNvSpPr txBox="1"/>
          <p:nvPr/>
        </p:nvSpPr>
        <p:spPr>
          <a:xfrm>
            <a:off x="4878112" y="4256424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7548D6-7819-40B9-A80D-D327DFAA8113}"/>
              </a:ext>
            </a:extLst>
          </p:cNvPr>
          <p:cNvSpPr/>
          <p:nvPr/>
        </p:nvSpPr>
        <p:spPr>
          <a:xfrm>
            <a:off x="2617236" y="5177103"/>
            <a:ext cx="22746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Local/</a:t>
            </a:r>
            <a:r>
              <a:rPr lang="it-IT" dirty="0" err="1"/>
              <a:t>minority</a:t>
            </a:r>
            <a:r>
              <a:rPr lang="it-IT" dirty="0"/>
              <a:t> 0.5/0.5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8D4BE9-B1FA-4871-9709-CA5C5E3BDB59}"/>
              </a:ext>
            </a:extLst>
          </p:cNvPr>
          <p:cNvSpPr/>
          <p:nvPr/>
        </p:nvSpPr>
        <p:spPr>
          <a:xfrm>
            <a:off x="240057" y="125766"/>
            <a:ext cx="5632432" cy="5640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CCCC65-C075-40B8-887D-3CBAB3F39F78}"/>
              </a:ext>
            </a:extLst>
          </p:cNvPr>
          <p:cNvSpPr/>
          <p:nvPr/>
        </p:nvSpPr>
        <p:spPr>
          <a:xfrm>
            <a:off x="6074977" y="125766"/>
            <a:ext cx="5632432" cy="5640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74F037-2115-4539-BA11-BB479D32D561}"/>
              </a:ext>
            </a:extLst>
          </p:cNvPr>
          <p:cNvSpPr txBox="1"/>
          <p:nvPr/>
        </p:nvSpPr>
        <p:spPr>
          <a:xfrm>
            <a:off x="5975578" y="417487"/>
            <a:ext cx="8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Intolernat</a:t>
            </a:r>
            <a:r>
              <a:rPr lang="it-IT" sz="1200" dirty="0"/>
              <a:t>/</a:t>
            </a:r>
            <a:r>
              <a:rPr lang="it-IT" sz="1200" dirty="0" err="1"/>
              <a:t>tolerant</a:t>
            </a:r>
            <a:endParaRPr lang="it-IT" sz="1050" dirty="0"/>
          </a:p>
          <a:p>
            <a:r>
              <a:rPr lang="it-IT" sz="1200" dirty="0" err="1"/>
              <a:t>minority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100F12-62B7-457C-BEDD-971B1995BAFF}"/>
              </a:ext>
            </a:extLst>
          </p:cNvPr>
          <p:cNvSpPr txBox="1"/>
          <p:nvPr/>
        </p:nvSpPr>
        <p:spPr>
          <a:xfrm>
            <a:off x="4627017" y="4644915"/>
            <a:ext cx="8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Intolernat</a:t>
            </a:r>
            <a:r>
              <a:rPr lang="it-IT" sz="1200" dirty="0"/>
              <a:t>/</a:t>
            </a:r>
            <a:r>
              <a:rPr lang="it-IT" sz="1200" dirty="0" err="1"/>
              <a:t>tolerant</a:t>
            </a:r>
            <a:endParaRPr lang="it-IT" sz="1050" dirty="0"/>
          </a:p>
          <a:p>
            <a:r>
              <a:rPr lang="it-IT" sz="1200" dirty="0" err="1"/>
              <a:t>locals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52B5C9-511B-4B94-82B9-070598D7A0A0}"/>
              </a:ext>
            </a:extLst>
          </p:cNvPr>
          <p:cNvSpPr txBox="1"/>
          <p:nvPr/>
        </p:nvSpPr>
        <p:spPr>
          <a:xfrm>
            <a:off x="10545811" y="4644915"/>
            <a:ext cx="8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Intolernat</a:t>
            </a:r>
            <a:r>
              <a:rPr lang="it-IT" sz="1200" dirty="0"/>
              <a:t>/</a:t>
            </a:r>
            <a:r>
              <a:rPr lang="it-IT" sz="1200" dirty="0" err="1"/>
              <a:t>tolerant</a:t>
            </a:r>
            <a:endParaRPr lang="it-IT" sz="1050" dirty="0"/>
          </a:p>
          <a:p>
            <a:r>
              <a:rPr lang="it-IT" sz="1200" dirty="0" err="1"/>
              <a:t>locals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6DC989-0885-46C4-997C-2B4A2DDAE8D5}"/>
              </a:ext>
            </a:extLst>
          </p:cNvPr>
          <p:cNvCxnSpPr>
            <a:cxnSpLocks/>
          </p:cNvCxnSpPr>
          <p:nvPr/>
        </p:nvCxnSpPr>
        <p:spPr>
          <a:xfrm flipV="1">
            <a:off x="735723" y="538505"/>
            <a:ext cx="0" cy="458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8155C5-5EF9-40F0-B74D-10AC370FF5D0}"/>
              </a:ext>
            </a:extLst>
          </p:cNvPr>
          <p:cNvCxnSpPr/>
          <p:nvPr/>
        </p:nvCxnSpPr>
        <p:spPr>
          <a:xfrm>
            <a:off x="735723" y="5066009"/>
            <a:ext cx="46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E8F55C9-2FEA-4C33-B968-3A75D539C7A3}"/>
              </a:ext>
            </a:extLst>
          </p:cNvPr>
          <p:cNvGraphicFramePr>
            <a:graphicFrameLocks noGrp="1"/>
          </p:cNvGraphicFramePr>
          <p:nvPr/>
        </p:nvGraphicFramePr>
        <p:xfrm>
          <a:off x="1247228" y="680251"/>
          <a:ext cx="4337265" cy="3967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755">
                  <a:extLst>
                    <a:ext uri="{9D8B030D-6E8A-4147-A177-3AD203B41FA5}">
                      <a16:colId xmlns:a16="http://schemas.microsoft.com/office/drawing/2014/main" val="286604741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887871970"/>
                    </a:ext>
                  </a:extLst>
                </a:gridCol>
                <a:gridCol w="1445755">
                  <a:extLst>
                    <a:ext uri="{9D8B030D-6E8A-4147-A177-3AD203B41FA5}">
                      <a16:colId xmlns:a16="http://schemas.microsoft.com/office/drawing/2014/main" val="2851315618"/>
                    </a:ext>
                  </a:extLst>
                </a:gridCol>
              </a:tblGrid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95378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069507"/>
                  </a:ext>
                </a:extLst>
              </a:tr>
              <a:tr h="13226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82519"/>
                  </a:ext>
                </a:extLst>
              </a:tr>
            </a:tbl>
          </a:graphicData>
        </a:graphic>
      </p:graphicFrame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020545E6-3388-431C-92D7-5DDC1FFE8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625373"/>
              </p:ext>
            </p:extLst>
          </p:nvPr>
        </p:nvGraphicFramePr>
        <p:xfrm>
          <a:off x="1285769" y="785355"/>
          <a:ext cx="13313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69">
                  <a:extLst>
                    <a:ext uri="{9D8B030D-6E8A-4147-A177-3AD203B41FA5}">
                      <a16:colId xmlns:a16="http://schemas.microsoft.com/office/drawing/2014/main" val="234353607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309127525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4190305361"/>
                    </a:ext>
                  </a:extLst>
                </a:gridCol>
              </a:tblGrid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338097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704660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4439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1770FB-2A6E-439E-B93F-D3FF4A89530C}"/>
              </a:ext>
            </a:extLst>
          </p:cNvPr>
          <p:cNvSpPr txBox="1"/>
          <p:nvPr/>
        </p:nvSpPr>
        <p:spPr>
          <a:xfrm>
            <a:off x="0" y="803748"/>
            <a:ext cx="877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% </a:t>
            </a:r>
            <a:r>
              <a:rPr lang="it-IT" sz="1400" dirty="0"/>
              <a:t>cons.</a:t>
            </a:r>
          </a:p>
          <a:p>
            <a:r>
              <a:rPr lang="it-IT" sz="1400" dirty="0" err="1"/>
              <a:t>minority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01BFD-E650-4AF5-A80E-6676A4B86357}"/>
              </a:ext>
            </a:extLst>
          </p:cNvPr>
          <p:cNvSpPr txBox="1"/>
          <p:nvPr/>
        </p:nvSpPr>
        <p:spPr>
          <a:xfrm>
            <a:off x="735724" y="998482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19028-F7E4-4B4E-B839-E9D076087171}"/>
              </a:ext>
            </a:extLst>
          </p:cNvPr>
          <p:cNvSpPr txBox="1"/>
          <p:nvPr/>
        </p:nvSpPr>
        <p:spPr>
          <a:xfrm>
            <a:off x="735724" y="2454003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4CB01-8EA8-424D-96E8-806A461426B5}"/>
              </a:ext>
            </a:extLst>
          </p:cNvPr>
          <p:cNvSpPr txBox="1"/>
          <p:nvPr/>
        </p:nvSpPr>
        <p:spPr>
          <a:xfrm>
            <a:off x="718209" y="3760006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6FA345-CC6A-4F52-8C1E-B61F608E8996}"/>
              </a:ext>
            </a:extLst>
          </p:cNvPr>
          <p:cNvSpPr txBox="1"/>
          <p:nvPr/>
        </p:nvSpPr>
        <p:spPr>
          <a:xfrm>
            <a:off x="1737712" y="4644138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A1E76-FCCD-42B0-948E-5D2F9A1D75B9}"/>
              </a:ext>
            </a:extLst>
          </p:cNvPr>
          <p:cNvSpPr txBox="1"/>
          <p:nvPr/>
        </p:nvSpPr>
        <p:spPr>
          <a:xfrm>
            <a:off x="3251204" y="4672433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0.5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37AB52-1A28-40CA-9898-4A6545CDDF3E}"/>
              </a:ext>
            </a:extLst>
          </p:cNvPr>
          <p:cNvSpPr txBox="1"/>
          <p:nvPr/>
        </p:nvSpPr>
        <p:spPr>
          <a:xfrm>
            <a:off x="4703370" y="4644919"/>
            <a:ext cx="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0.8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5A315-180D-4FFA-912A-1A96036A3AA1}"/>
              </a:ext>
            </a:extLst>
          </p:cNvPr>
          <p:cNvSpPr txBox="1"/>
          <p:nvPr/>
        </p:nvSpPr>
        <p:spPr>
          <a:xfrm>
            <a:off x="4520317" y="5041765"/>
            <a:ext cx="877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% </a:t>
            </a:r>
            <a:r>
              <a:rPr lang="it-IT" sz="1400" dirty="0"/>
              <a:t>cons.</a:t>
            </a:r>
          </a:p>
          <a:p>
            <a:r>
              <a:rPr lang="it-IT" sz="1400" dirty="0" err="1"/>
              <a:t>locals</a:t>
            </a:r>
            <a:endParaRPr lang="en-US" dirty="0"/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E4F9E0F-DF31-496D-B192-E65C8E4C4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387495"/>
              </p:ext>
            </p:extLst>
          </p:nvPr>
        </p:nvGraphicFramePr>
        <p:xfrm>
          <a:off x="7935609" y="455453"/>
          <a:ext cx="13313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69">
                  <a:extLst>
                    <a:ext uri="{9D8B030D-6E8A-4147-A177-3AD203B41FA5}">
                      <a16:colId xmlns:a16="http://schemas.microsoft.com/office/drawing/2014/main" val="234353607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3091275258"/>
                    </a:ext>
                  </a:extLst>
                </a:gridCol>
                <a:gridCol w="443769">
                  <a:extLst>
                    <a:ext uri="{9D8B030D-6E8A-4147-A177-3AD203B41FA5}">
                      <a16:colId xmlns:a16="http://schemas.microsoft.com/office/drawing/2014/main" val="4190305361"/>
                    </a:ext>
                  </a:extLst>
                </a:gridCol>
              </a:tblGrid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338097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704660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4439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A53B3F4-68CC-4891-84CF-A060107FD4FC}"/>
              </a:ext>
            </a:extLst>
          </p:cNvPr>
          <p:cNvSpPr txBox="1"/>
          <p:nvPr/>
        </p:nvSpPr>
        <p:spPr>
          <a:xfrm>
            <a:off x="7057997" y="468002"/>
            <a:ext cx="94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max</a:t>
            </a:r>
            <a:r>
              <a:rPr lang="it-IT" dirty="0"/>
              <a:t>βe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521D8C-E8C7-401D-8EAC-6B25AFC83E16}"/>
              </a:ext>
            </a:extLst>
          </p:cNvPr>
          <p:cNvSpPr txBox="1"/>
          <p:nvPr/>
        </p:nvSpPr>
        <p:spPr>
          <a:xfrm>
            <a:off x="7057997" y="859982"/>
            <a:ext cx="87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med</a:t>
            </a:r>
            <a:r>
              <a:rPr lang="it-IT" dirty="0"/>
              <a:t>βe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F78BA5-7706-4750-B32C-C91E69575D00}"/>
              </a:ext>
            </a:extLst>
          </p:cNvPr>
          <p:cNvSpPr txBox="1"/>
          <p:nvPr/>
        </p:nvSpPr>
        <p:spPr>
          <a:xfrm>
            <a:off x="7075509" y="1184017"/>
            <a:ext cx="84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min</a:t>
            </a:r>
            <a:r>
              <a:rPr lang="it-IT" dirty="0"/>
              <a:t>βe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CE8169-78E1-49BF-B0F1-ABBD1D54C082}"/>
              </a:ext>
            </a:extLst>
          </p:cNvPr>
          <p:cNvSpPr txBox="1"/>
          <p:nvPr/>
        </p:nvSpPr>
        <p:spPr>
          <a:xfrm>
            <a:off x="1862912" y="5426314"/>
            <a:ext cx="2274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Local/</a:t>
            </a:r>
            <a:r>
              <a:rPr lang="it-IT" dirty="0" err="1"/>
              <a:t>minority</a:t>
            </a:r>
            <a:r>
              <a:rPr lang="it-IT" dirty="0"/>
              <a:t> 0.5/0.5</a:t>
            </a:r>
          </a:p>
          <a:p>
            <a:r>
              <a:rPr lang="it-IT" dirty="0"/>
              <a:t>Local/</a:t>
            </a:r>
            <a:r>
              <a:rPr lang="it-IT" dirty="0" err="1"/>
              <a:t>minority</a:t>
            </a:r>
            <a:r>
              <a:rPr lang="it-IT" dirty="0"/>
              <a:t> 0.8/0.2</a:t>
            </a:r>
            <a:endParaRPr lang="en-US" dirty="0"/>
          </a:p>
        </p:txBody>
      </p:sp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544FD9C3-440C-4417-B814-B958DE63E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76116"/>
              </p:ext>
            </p:extLst>
          </p:nvPr>
        </p:nvGraphicFramePr>
        <p:xfrm>
          <a:off x="8785315" y="2577911"/>
          <a:ext cx="2967417" cy="2185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139">
                  <a:extLst>
                    <a:ext uri="{9D8B030D-6E8A-4147-A177-3AD203B41FA5}">
                      <a16:colId xmlns:a16="http://schemas.microsoft.com/office/drawing/2014/main" val="1954656109"/>
                    </a:ext>
                  </a:extLst>
                </a:gridCol>
                <a:gridCol w="989139">
                  <a:extLst>
                    <a:ext uri="{9D8B030D-6E8A-4147-A177-3AD203B41FA5}">
                      <a16:colId xmlns:a16="http://schemas.microsoft.com/office/drawing/2014/main" val="2025153775"/>
                    </a:ext>
                  </a:extLst>
                </a:gridCol>
                <a:gridCol w="989139">
                  <a:extLst>
                    <a:ext uri="{9D8B030D-6E8A-4147-A177-3AD203B41FA5}">
                      <a16:colId xmlns:a16="http://schemas.microsoft.com/office/drawing/2014/main" val="2641240527"/>
                    </a:ext>
                  </a:extLst>
                </a:gridCol>
              </a:tblGrid>
              <a:tr h="728596">
                <a:tc>
                  <a:txBody>
                    <a:bodyPr/>
                    <a:lstStyle/>
                    <a:p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l-GR" b="0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09090"/>
                  </a:ext>
                </a:extLst>
              </a:tr>
              <a:tr h="728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958393"/>
                  </a:ext>
                </a:extLst>
              </a:tr>
              <a:tr h="728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925474"/>
                  </a:ext>
                </a:extLst>
              </a:tr>
            </a:tbl>
          </a:graphicData>
        </a:graphic>
      </p:graphicFrame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608778-9560-4142-BAF6-1FC8F8B742C9}"/>
              </a:ext>
            </a:extLst>
          </p:cNvPr>
          <p:cNvCxnSpPr/>
          <p:nvPr/>
        </p:nvCxnSpPr>
        <p:spPr>
          <a:xfrm flipV="1">
            <a:off x="8845746" y="2577912"/>
            <a:ext cx="2906987" cy="2185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59C66839-2986-4853-8FF0-CF2EA1EEA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787161"/>
              </p:ext>
            </p:extLst>
          </p:nvPr>
        </p:nvGraphicFramePr>
        <p:xfrm>
          <a:off x="7877491" y="2558284"/>
          <a:ext cx="877610" cy="222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10">
                  <a:extLst>
                    <a:ext uri="{9D8B030D-6E8A-4147-A177-3AD203B41FA5}">
                      <a16:colId xmlns:a16="http://schemas.microsoft.com/office/drawing/2014/main" val="839185652"/>
                    </a:ext>
                  </a:extLst>
                </a:gridCol>
              </a:tblGrid>
              <a:tr h="798438">
                <a:tc>
                  <a:txBody>
                    <a:bodyPr/>
                    <a:lstStyle/>
                    <a:p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97392"/>
                  </a:ext>
                </a:extLst>
              </a:tr>
              <a:tr h="693683">
                <a:tc>
                  <a:txBody>
                    <a:bodyPr/>
                    <a:lstStyle/>
                    <a:p>
                      <a:r>
                        <a:rPr lang="it-IT" dirty="0" err="1"/>
                        <a:t>mdm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014705"/>
                  </a:ext>
                </a:extLst>
              </a:tr>
              <a:tr h="735136">
                <a:tc>
                  <a:txBody>
                    <a:bodyPr/>
                    <a:lstStyle/>
                    <a:p>
                      <a:r>
                        <a:rPr lang="it-IT" dirty="0"/>
                        <a:t>low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91548"/>
                  </a:ext>
                </a:extLst>
              </a:tr>
            </a:tbl>
          </a:graphicData>
        </a:graphic>
      </p:graphicFrame>
      <p:graphicFrame>
        <p:nvGraphicFramePr>
          <p:cNvPr id="37" name="Table 37">
            <a:extLst>
              <a:ext uri="{FF2B5EF4-FFF2-40B4-BE49-F238E27FC236}">
                <a16:creationId xmlns:a16="http://schemas.microsoft.com/office/drawing/2014/main" id="{7A1BFE81-35D3-410D-AF4D-02804E89A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56895"/>
              </p:ext>
            </p:extLst>
          </p:nvPr>
        </p:nvGraphicFramePr>
        <p:xfrm>
          <a:off x="8785315" y="4875619"/>
          <a:ext cx="296741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139">
                  <a:extLst>
                    <a:ext uri="{9D8B030D-6E8A-4147-A177-3AD203B41FA5}">
                      <a16:colId xmlns:a16="http://schemas.microsoft.com/office/drawing/2014/main" val="3867614951"/>
                    </a:ext>
                  </a:extLst>
                </a:gridCol>
                <a:gridCol w="989139">
                  <a:extLst>
                    <a:ext uri="{9D8B030D-6E8A-4147-A177-3AD203B41FA5}">
                      <a16:colId xmlns:a16="http://schemas.microsoft.com/office/drawing/2014/main" val="1041518243"/>
                    </a:ext>
                  </a:extLst>
                </a:gridCol>
                <a:gridCol w="989139">
                  <a:extLst>
                    <a:ext uri="{9D8B030D-6E8A-4147-A177-3AD203B41FA5}">
                      <a16:colId xmlns:a16="http://schemas.microsoft.com/office/drawing/2014/main" val="1994249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b="0" dirty="0" err="1">
                          <a:solidFill>
                            <a:schemeClr val="tx1"/>
                          </a:solidFill>
                        </a:rPr>
                        <a:t>mdm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b="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723008"/>
                  </a:ext>
                </a:extLst>
              </a:tr>
            </a:tbl>
          </a:graphicData>
        </a:graphic>
      </p:graphicFrame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9CD02522-3106-491C-BBE3-8AFF52552604}"/>
              </a:ext>
            </a:extLst>
          </p:cNvPr>
          <p:cNvSpPr/>
          <p:nvPr/>
        </p:nvSpPr>
        <p:spPr>
          <a:xfrm rot="15910959">
            <a:off x="4481585" y="-1961699"/>
            <a:ext cx="389646" cy="4940390"/>
          </a:xfrm>
          <a:prstGeom prst="curvedLeftArrow">
            <a:avLst>
              <a:gd name="adj1" fmla="val 25000"/>
              <a:gd name="adj2" fmla="val 8620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AD3CD2-670B-4594-896C-13CD13AAF748}"/>
                  </a:ext>
                </a:extLst>
              </p:cNvPr>
              <p:cNvSpPr txBox="1"/>
              <p:nvPr/>
            </p:nvSpPr>
            <p:spPr>
              <a:xfrm>
                <a:off x="6391469" y="5381595"/>
                <a:ext cx="5682343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The </a:t>
                </a:r>
                <a:r>
                  <a:rPr lang="it-IT" sz="1400" dirty="0" err="1"/>
                  <a:t>ideal</a:t>
                </a:r>
                <a:r>
                  <a:rPr lang="it-IT" sz="1400" dirty="0"/>
                  <a:t> </a:t>
                </a:r>
                <a:r>
                  <a:rPr lang="it-IT" sz="1400" dirty="0" err="1"/>
                  <a:t>would</a:t>
                </a:r>
                <a:r>
                  <a:rPr lang="it-IT" sz="1400" dirty="0"/>
                  <a:t> be to </a:t>
                </a:r>
                <a:r>
                  <a:rPr lang="it-IT" sz="1400" dirty="0" err="1"/>
                  <a:t>identify</a:t>
                </a:r>
                <a:r>
                  <a:rPr lang="it-IT" sz="1400" dirty="0"/>
                  <a:t> </a:t>
                </a:r>
                <a:r>
                  <a:rPr lang="it-IT" sz="1400" dirty="0" err="1"/>
                  <a:t>conditions</a:t>
                </a:r>
                <a:r>
                  <a:rPr lang="it-IT" sz="1400" dirty="0"/>
                  <a:t> for high, medium and low </a:t>
                </a:r>
                <a14:m>
                  <m:oMath xmlns:m="http://schemas.openxmlformats.org/officeDocument/2006/math">
                    <m:r>
                      <a:rPr lang="it-IT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on the two dimensions of value and ethnicity, provided difference  is salient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 simplest and interesting solution to me seems to have a similar matrix as above, not sure if it fits assumptions above.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AD3CD2-670B-4594-896C-13CD13AAF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469" y="5381595"/>
                <a:ext cx="5682343" cy="1169551"/>
              </a:xfrm>
              <a:prstGeom prst="rect">
                <a:avLst/>
              </a:prstGeom>
              <a:blipFill>
                <a:blip r:embed="rId2"/>
                <a:stretch>
                  <a:fillRect l="-107" t="-1042" r="-536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92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Widescreen</PresentationFormat>
  <Paragraphs>214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Rocco Paolillo</dc:creator>
  <cp:lastModifiedBy>Rocco Paolillo</cp:lastModifiedBy>
  <cp:revision>6</cp:revision>
  <dcterms:created xsi:type="dcterms:W3CDTF">2020-02-11T06:34:27Z</dcterms:created>
  <dcterms:modified xsi:type="dcterms:W3CDTF">2020-02-11T07:20:39Z</dcterms:modified>
</cp:coreProperties>
</file>